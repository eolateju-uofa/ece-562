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handoutMasterIdLst>
    <p:handoutMasterId r:id="rId11"/>
  </p:handoutMasterIdLst>
  <p:sldIdLst>
    <p:sldId id="256" r:id="rId2"/>
    <p:sldId id="257" r:id="rId3"/>
    <p:sldId id="258" r:id="rId4"/>
    <p:sldId id="259" r:id="rId5"/>
    <p:sldId id="260" r:id="rId6"/>
    <p:sldId id="261" r:id="rId7"/>
    <p:sldId id="263" r:id="rId8"/>
    <p:sldId id="262" r:id="rId9"/>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23">
          <p15:clr>
            <a:srgbClr val="A4A3A4"/>
          </p15:clr>
        </p15:guide>
        <p15:guide id="2" pos="385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278" autoAdjust="0"/>
    <p:restoredTop sz="94660"/>
  </p:normalViewPr>
  <p:slideViewPr>
    <p:cSldViewPr snapToGrid="0" showGuides="1">
      <p:cViewPr varScale="1">
        <p:scale>
          <a:sx n="110" d="100"/>
          <a:sy n="110" d="100"/>
        </p:scale>
        <p:origin x="786" y="114"/>
      </p:cViewPr>
      <p:guideLst>
        <p:guide orient="horz" pos="2123"/>
        <p:guide pos="3852"/>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t>2026/10/22</a:t>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t>2026/10/22</a:t>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322962"/>
            <a:ext cx="9144000" cy="2187001"/>
          </a:xfrm>
        </p:spPr>
        <p:txBody>
          <a:bodyPr anchor="b">
            <a:normAutofit/>
          </a:bodyPr>
          <a:lstStyle>
            <a:lvl1pPr algn="ctr">
              <a:lnSpc>
                <a:spcPct val="130000"/>
              </a:lnSpc>
              <a:defRPr sz="6000">
                <a:effectLst>
                  <a:outerShdw blurRad="38100" dist="38100" dir="2700000" algn="tl">
                    <a:srgbClr val="000000">
                      <a:alpha val="43137"/>
                    </a:srgbClr>
                  </a:outerShdw>
                </a:effectLst>
              </a:defRPr>
            </a:lvl1pPr>
          </a:lstStyle>
          <a:p>
            <a:r>
              <a:rPr lang="zh-CN" altLang="en-US" dirty="0">
                <a:sym typeface="+mn-ea"/>
              </a:rPr>
              <a:t>Click to edit Master title style</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2026/10/22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
        <p:nvSpPr>
          <p:cNvPr id="3" name="副标题 2"/>
          <p:cNvSpPr>
            <a:spLocks noGrp="1"/>
          </p:cNvSpPr>
          <p:nvPr>
            <p:ph type="subTitle" idx="1"/>
          </p:nvPr>
        </p:nvSpPr>
        <p:spPr>
          <a:xfrm>
            <a:off x="1524000" y="3602038"/>
            <a:ext cx="9144000" cy="1655762"/>
          </a:xfrm>
        </p:spPr>
        <p:txBody>
          <a:bodyPr>
            <a:normAutofit/>
          </a:bodyPr>
          <a:lstStyle>
            <a:lvl1pPr marL="0" indent="0" algn="ctr">
              <a:buNone/>
              <a:defRPr sz="18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Click to edit Master title style</a:t>
            </a:r>
          </a:p>
        </p:txBody>
      </p:sp>
      <p:sp>
        <p:nvSpPr>
          <p:cNvPr id="3" name="内容占位符 2"/>
          <p:cNvSpPr>
            <a:spLocks noGrp="1"/>
          </p:cNvSpPr>
          <p:nvPr>
            <p:ph idx="1"/>
          </p:nvPr>
        </p:nvSpPr>
        <p:spPr>
          <a:xfrm>
            <a:off x="647700" y="1825625"/>
            <a:ext cx="10515600" cy="4351338"/>
          </a:xfrm>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sym typeface="+mn-ea"/>
              </a:rPr>
              <a:t>Click to edit Master text styles</a:t>
            </a:r>
          </a:p>
          <a:p>
            <a:pPr lvl="1"/>
            <a:r>
              <a:rPr lang="zh-CN" altLang="en-US" dirty="0"/>
              <a:t>Second level</a:t>
            </a:r>
          </a:p>
          <a:p>
            <a:pPr lvl="2"/>
            <a:r>
              <a:rPr lang="zh-CN" altLang="en-US" dirty="0"/>
              <a:t>Third level</a:t>
            </a:r>
          </a:p>
          <a:p>
            <a:pPr lvl="3"/>
            <a:r>
              <a:rPr lang="zh-CN" altLang="en-US" dirty="0"/>
              <a:t>Fourth level</a:t>
            </a:r>
          </a:p>
          <a:p>
            <a:pPr lvl="4"/>
            <a:r>
              <a:rPr lang="zh-CN" altLang="en-US" dirty="0"/>
              <a:t>Fifth level</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2026/10/22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0945"/>
            <a:ext cx="9848088" cy="811530"/>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Click to edit Master title style</a:t>
            </a:r>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sym typeface="+mn-ea"/>
              </a:rPr>
              <a:t>Click to edit Master text styles</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2026/10/22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Click to edit Master title style</a:t>
            </a:r>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sym typeface="+mn-ea"/>
              </a:rPr>
              <a:t>Click to edit Master text styles</a:t>
            </a:r>
          </a:p>
          <a:p>
            <a:pPr lvl="1"/>
            <a:r>
              <a:rPr lang="zh-CN" altLang="en-US" dirty="0"/>
              <a:t>Second level</a:t>
            </a:r>
          </a:p>
          <a:p>
            <a:pPr lvl="2"/>
            <a:r>
              <a:rPr lang="zh-CN" altLang="en-US" dirty="0"/>
              <a:t>Third level</a:t>
            </a:r>
          </a:p>
          <a:p>
            <a:pPr lvl="3"/>
            <a:r>
              <a:rPr lang="zh-CN" altLang="en-US" dirty="0"/>
              <a:t>Fourth level</a:t>
            </a:r>
          </a:p>
          <a:p>
            <a:pPr lvl="4"/>
            <a:r>
              <a:rPr lang="zh-CN" altLang="en-US" dirty="0"/>
              <a:t>Fifth level</a:t>
            </a:r>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sym typeface="+mn-ea"/>
              </a:rPr>
              <a:t>Click to edit Master text styles</a:t>
            </a:r>
          </a:p>
          <a:p>
            <a:pPr lvl="1"/>
            <a:r>
              <a:rPr lang="zh-CN" altLang="en-US" dirty="0"/>
              <a:t>Second level</a:t>
            </a:r>
          </a:p>
          <a:p>
            <a:pPr lvl="2"/>
            <a:r>
              <a:rPr lang="zh-CN" altLang="en-US" dirty="0"/>
              <a:t>Third level</a:t>
            </a:r>
          </a:p>
          <a:p>
            <a:pPr lvl="3"/>
            <a:r>
              <a:rPr lang="zh-CN" altLang="en-US" dirty="0"/>
              <a:t>Fourth level</a:t>
            </a:r>
          </a:p>
          <a:p>
            <a:pPr lvl="4"/>
            <a:r>
              <a:rPr lang="zh-CN" altLang="en-US" dirty="0"/>
              <a:t>Fifth level</a:t>
            </a:r>
          </a:p>
        </p:txBody>
      </p:sp>
      <p:sp>
        <p:nvSpPr>
          <p:cNvPr id="5" name="日期占位符 4"/>
          <p:cNvSpPr>
            <a:spLocks noGrp="1"/>
          </p:cNvSpPr>
          <p:nvPr>
            <p:ph type="dt" sz="half" idx="10"/>
          </p:nvPr>
        </p:nvSpPr>
        <p:spPr/>
        <p:txBody>
          <a:bodyPr/>
          <a:lstStyle/>
          <a:p>
            <a:fld id="{760FBDFE-C587-4B4C-A407-44438C67B59E}" type="datetimeFigureOut">
              <a:rPr lang="zh-CN" altLang="en-US" smtClean="0"/>
              <a:t>2026/10/22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Click to edit Master title style</a:t>
            </a:r>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sym typeface="+mn-ea"/>
              </a:rPr>
              <a:t>Click to edit Master text styles</a:t>
            </a:r>
          </a:p>
        </p:txBody>
      </p:sp>
      <p:sp>
        <p:nvSpPr>
          <p:cNvPr id="4" name="内容占位符 3"/>
          <p:cNvSpPr>
            <a:spLocks noGrp="1"/>
          </p:cNvSpPr>
          <p:nvPr>
            <p:ph sz="half" idx="2"/>
          </p:nvPr>
        </p:nvSpPr>
        <p:spPr>
          <a:xfrm>
            <a:off x="839788" y="2615609"/>
            <a:ext cx="5157787" cy="3574054"/>
          </a:xfrm>
        </p:spPr>
        <p:txBody>
          <a:bodyPr/>
          <a:lstStyle/>
          <a:p>
            <a:pPr lvl="0"/>
            <a:r>
              <a:rPr lang="zh-CN" altLang="en-US" dirty="0">
                <a:sym typeface="+mn-ea"/>
              </a:rPr>
              <a:t>Click to edit Master text styles</a:t>
            </a:r>
          </a:p>
          <a:p>
            <a:pPr lvl="1"/>
            <a:r>
              <a:rPr lang="zh-CN" altLang="en-US" dirty="0"/>
              <a:t>Second level</a:t>
            </a:r>
          </a:p>
          <a:p>
            <a:pPr lvl="2"/>
            <a:r>
              <a:rPr lang="zh-CN" altLang="en-US" dirty="0"/>
              <a:t>Third level</a:t>
            </a:r>
          </a:p>
          <a:p>
            <a:pPr lvl="3"/>
            <a:r>
              <a:rPr lang="zh-CN" altLang="en-US" dirty="0"/>
              <a:t>Fourth level</a:t>
            </a:r>
          </a:p>
          <a:p>
            <a:pPr lvl="4"/>
            <a:r>
              <a:rPr lang="zh-CN" altLang="en-US" dirty="0"/>
              <a:t>Fifth level</a:t>
            </a:r>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sym typeface="+mn-ea"/>
              </a:rPr>
              <a:t>Click to edit Master text styles</a:t>
            </a:r>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sym typeface="+mn-ea"/>
              </a:rPr>
              <a:t>Click to edit Master text styles</a:t>
            </a:r>
          </a:p>
          <a:p>
            <a:pPr lvl="1"/>
            <a:r>
              <a:rPr lang="zh-CN" altLang="en-US" dirty="0"/>
              <a:t>Second level</a:t>
            </a:r>
          </a:p>
          <a:p>
            <a:pPr lvl="2"/>
            <a:r>
              <a:rPr lang="zh-CN" altLang="en-US" dirty="0"/>
              <a:t>Third level</a:t>
            </a:r>
          </a:p>
          <a:p>
            <a:pPr lvl="3"/>
            <a:r>
              <a:rPr lang="zh-CN" altLang="en-US" dirty="0"/>
              <a:t>Fourth level</a:t>
            </a:r>
          </a:p>
          <a:p>
            <a:pPr lvl="4"/>
            <a:r>
              <a:rPr lang="zh-CN" altLang="en-US" dirty="0"/>
              <a:t>Fifth level</a:t>
            </a:r>
          </a:p>
        </p:txBody>
      </p:sp>
      <p:sp>
        <p:nvSpPr>
          <p:cNvPr id="7" name="日期占位符 6"/>
          <p:cNvSpPr>
            <a:spLocks noGrp="1"/>
          </p:cNvSpPr>
          <p:nvPr>
            <p:ph type="dt" sz="half" idx="10"/>
          </p:nvPr>
        </p:nvSpPr>
        <p:spPr/>
        <p:txBody>
          <a:bodyPr/>
          <a:lstStyle/>
          <a:p>
            <a:fld id="{760FBDFE-C587-4B4C-A407-44438C67B59E}" type="datetimeFigureOut">
              <a:rPr lang="zh-CN" altLang="en-US" smtClean="0"/>
              <a:t>2026/10/22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Click to edit Master title style</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2026/10/22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t>2026/10/22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标题 1"/>
          <p:cNvSpPr>
            <a:spLocks noGrp="1"/>
          </p:cNvSpPr>
          <p:nvPr>
            <p:ph type="title"/>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sym typeface="+mn-ea"/>
              </a:rPr>
              <a:t>Click to edit Master title style</a:t>
            </a:r>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Click to edit Master text styles</a:t>
            </a:r>
          </a:p>
        </p:txBody>
      </p:sp>
      <p:sp>
        <p:nvSpPr>
          <p:cNvPr id="5" name="日期占位符 4"/>
          <p:cNvSpPr>
            <a:spLocks noGrp="1"/>
          </p:cNvSpPr>
          <p:nvPr>
            <p:ph type="dt" sz="half" idx="10"/>
          </p:nvPr>
        </p:nvSpPr>
        <p:spPr/>
        <p:txBody>
          <a:bodyPr/>
          <a:lstStyle/>
          <a:p>
            <a:fld id="{9EFD9D74-47D9-4702-A33C-335B63B48DBF}" type="datetimeFigureOut">
              <a:rPr lang="zh-CN" altLang="en-US" smtClean="0"/>
              <a:t>2026/10/22</a:t>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t>‹#›</a:t>
            </a:fld>
            <a:endParaRPr lang="zh-CN" altLang="en-US"/>
          </a:p>
        </p:txBody>
      </p:sp>
      <p:cxnSp>
        <p:nvCxnSpPr>
          <p:cNvPr id="8" name="直接连接符 7" hidden="1"/>
          <p:cNvCxnSpPr/>
          <p:nvPr userDrawn="1"/>
        </p:nvCxnSpPr>
        <p:spPr>
          <a:xfrm>
            <a:off x="742950" y="434340"/>
            <a:ext cx="0" cy="1391285"/>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Click to edit Master title style</a:t>
            </a:r>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sym typeface="+mn-ea"/>
              </a:rPr>
              <a:t>Click to edit Master text styles</a:t>
            </a:r>
          </a:p>
          <a:p>
            <a:pPr lvl="1"/>
            <a:r>
              <a:rPr lang="zh-CN" altLang="en-US" dirty="0"/>
              <a:t>Second level</a:t>
            </a:r>
          </a:p>
          <a:p>
            <a:pPr lvl="2"/>
            <a:r>
              <a:rPr lang="zh-CN" altLang="en-US" dirty="0"/>
              <a:t>Third level</a:t>
            </a:r>
          </a:p>
          <a:p>
            <a:pPr lvl="3"/>
            <a:r>
              <a:rPr lang="zh-CN" altLang="en-US" dirty="0"/>
              <a:t>Fourth level</a:t>
            </a:r>
          </a:p>
          <a:p>
            <a:pPr lvl="4"/>
            <a:r>
              <a:rPr lang="zh-CN" altLang="en-US" dirty="0"/>
              <a:t>Fifth level</a:t>
            </a:r>
          </a:p>
        </p:txBody>
      </p:sp>
      <p:sp>
        <p:nvSpPr>
          <p:cNvPr id="4" name="日期占位符 3"/>
          <p:cNvSpPr>
            <a:spLocks noGrp="1"/>
          </p:cNvSpPr>
          <p:nvPr>
            <p:ph type="dt" sz="half" idx="10"/>
          </p:nvPr>
        </p:nvSpPr>
        <p:spPr/>
        <p:txBody>
          <a:bodyPr/>
          <a:lstStyle/>
          <a:p>
            <a:fld id="{760FBDFE-C587-4B4C-A407-44438C67B59E}" type="datetimeFigureOut">
              <a:rPr lang="zh-CN" altLang="en-US" smtClean="0"/>
              <a:t>2026/10/22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t>2026/10/22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sym typeface="+mn-ea"/>
              </a:rPr>
              <a:t>Click to edit Master text styles</a:t>
            </a:r>
          </a:p>
          <a:p>
            <a:pPr lvl="1"/>
            <a:r>
              <a:rPr lang="zh-CN" altLang="en-US" dirty="0"/>
              <a:t>Second level</a:t>
            </a:r>
          </a:p>
          <a:p>
            <a:pPr lvl="2"/>
            <a:r>
              <a:rPr lang="zh-CN" altLang="en-US" dirty="0"/>
              <a:t>Third level</a:t>
            </a:r>
          </a:p>
          <a:p>
            <a:pPr lvl="3"/>
            <a:r>
              <a:rPr lang="zh-CN" altLang="en-US" dirty="0"/>
              <a:t>Fourth level</a:t>
            </a:r>
          </a:p>
          <a:p>
            <a:pPr lvl="4"/>
            <a:r>
              <a:rPr lang="zh-CN" altLang="en-US" dirty="0"/>
              <a:t>Fifth level</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Click to edit Master title style</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sym typeface="+mn-ea"/>
              </a:rPr>
              <a:t>Click to edit Master text styles</a:t>
            </a:r>
          </a:p>
          <a:p>
            <a:pPr lvl="1"/>
            <a:r>
              <a:rPr lang="zh-CN" altLang="en-US" dirty="0"/>
              <a:t>Second level</a:t>
            </a:r>
          </a:p>
          <a:p>
            <a:pPr lvl="2"/>
            <a:r>
              <a:rPr lang="zh-CN" altLang="en-US" dirty="0"/>
              <a:t>Third level</a:t>
            </a:r>
          </a:p>
          <a:p>
            <a:pPr lvl="3"/>
            <a:r>
              <a:rPr lang="zh-CN" altLang="en-US" dirty="0"/>
              <a:t>Fourth level</a:t>
            </a:r>
          </a:p>
          <a:p>
            <a:pPr lvl="4"/>
            <a:r>
              <a:rPr lang="zh-CN" altLang="en-US" dirty="0"/>
              <a:t>Fifth level</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t>2026/10/22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ctrTitle"/>
          </p:nvPr>
        </p:nvSpPr>
        <p:spPr>
          <a:xfrm>
            <a:off x="1524000" y="733164"/>
            <a:ext cx="9144000" cy="2698115"/>
          </a:xfrm>
        </p:spPr>
        <p:txBody>
          <a:bodyPr anchor="ctr" anchorCtr="0">
            <a:noAutofit/>
          </a:bodyPr>
          <a:lstStyle/>
          <a:p>
            <a:pPr>
              <a:lnSpc>
                <a:spcPct val="130000"/>
              </a:lnSpc>
            </a:pPr>
            <a:r>
              <a:rPr lang="en-US" altLang="en-US" sz="3600" i="1" dirty="0">
                <a:solidFill>
                  <a:srgbClr val="000000"/>
                </a:solidFill>
                <a:latin typeface="FreeSerif" panose="02020603050405020304"/>
                <a:ea typeface="Roboto" panose="02000000000000000000"/>
                <a:cs typeface="Roboto" panose="02000000000000000000"/>
              </a:rPr>
              <a:t>Machine Learning Street Talk</a:t>
            </a:r>
            <a:br>
              <a:rPr lang="en-US" altLang="en-US" sz="3600" i="1" dirty="0">
                <a:solidFill>
                  <a:srgbClr val="000000"/>
                </a:solidFill>
                <a:latin typeface="FreeSerif" panose="02020603050405020304"/>
                <a:ea typeface="Roboto" panose="02000000000000000000"/>
                <a:cs typeface="Roboto" panose="02000000000000000000"/>
              </a:rPr>
            </a:br>
            <a:br>
              <a:rPr lang="en-US" altLang="en-US" sz="1200" i="1" dirty="0">
                <a:solidFill>
                  <a:srgbClr val="000000"/>
                </a:solidFill>
                <a:latin typeface="FreeSerif" panose="02020603050405020304"/>
                <a:ea typeface="Roboto" panose="02000000000000000000"/>
                <a:cs typeface="Roboto" panose="02000000000000000000"/>
              </a:rPr>
            </a:br>
            <a:br>
              <a:rPr lang="en-US" altLang="en-US" sz="2000" i="1" dirty="0">
                <a:solidFill>
                  <a:srgbClr val="000000"/>
                </a:solidFill>
                <a:latin typeface="FreeSerif" panose="02020603050405020304"/>
                <a:ea typeface="Roboto" panose="02000000000000000000"/>
                <a:cs typeface="Roboto" panose="02000000000000000000"/>
              </a:rPr>
            </a:br>
            <a:r>
              <a:rPr lang="en-US" altLang="en-US" sz="2000" i="1" dirty="0">
                <a:solidFill>
                  <a:srgbClr val="000000"/>
                </a:solidFill>
                <a:latin typeface="FreeSerif" panose="02020603050405020304"/>
                <a:ea typeface="Roboto" panose="02000000000000000000"/>
                <a:cs typeface="Roboto" panose="02000000000000000000"/>
              </a:rPr>
              <a:t>The MLP Assumption, Inductive Biases, Self-organizing/Coordinating Networks</a:t>
            </a:r>
          </a:p>
        </p:txBody>
      </p:sp>
      <p:sp>
        <p:nvSpPr>
          <p:cNvPr id="5" name="副标题 4"/>
          <p:cNvSpPr>
            <a:spLocks noGrp="1"/>
          </p:cNvSpPr>
          <p:nvPr>
            <p:ph type="subTitle" idx="1"/>
          </p:nvPr>
        </p:nvSpPr>
        <p:spPr>
          <a:xfrm>
            <a:off x="1524000" y="5109845"/>
            <a:ext cx="9144000" cy="1078865"/>
          </a:xfrm>
        </p:spPr>
        <p:txBody>
          <a:bodyPr anchor="ctr" anchorCtr="0"/>
          <a:lstStyle/>
          <a:p>
            <a:r>
              <a:rPr lang="x-none" altLang="zh-CN" b="1" i="1">
                <a:latin typeface="FreeSerif" panose="02020603050405020304"/>
                <a:ea typeface="等线"/>
                <a:cs typeface="FreeSerif" panose="02020603050405020304" charset="0"/>
              </a:rPr>
              <a:t>Emmanuel Olateju</a:t>
            </a:r>
          </a:p>
        </p:txBody>
      </p:sp>
      <p:sp>
        <p:nvSpPr>
          <p:cNvPr id="6" name="Text Box 5"/>
          <p:cNvSpPr txBox="1"/>
          <p:nvPr/>
        </p:nvSpPr>
        <p:spPr>
          <a:xfrm>
            <a:off x="5671503" y="4385945"/>
            <a:ext cx="848995" cy="245110"/>
          </a:xfrm>
          <a:prstGeom prst="rect">
            <a:avLst/>
          </a:prstGeom>
          <a:noFill/>
        </p:spPr>
        <p:txBody>
          <a:bodyPr wrap="none" rtlCol="0">
            <a:spAutoFit/>
          </a:bodyPr>
          <a:lstStyle/>
          <a:p>
            <a:pPr algn="ctr"/>
            <a:r>
              <a:rPr lang="en-US" sz="1000" i="1">
                <a:latin typeface="FreeSerif" panose="02020603050405020304" charset="0"/>
                <a:cs typeface="FreeSerif" panose="02020603050405020304" charset="0"/>
              </a:rPr>
              <a:t>Presented By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6"/>
          <p:cNvSpPr txBox="1"/>
          <p:nvPr/>
        </p:nvSpPr>
        <p:spPr>
          <a:xfrm>
            <a:off x="4479290" y="146050"/>
            <a:ext cx="3234055" cy="368300"/>
          </a:xfrm>
          <a:prstGeom prst="rect">
            <a:avLst/>
          </a:prstGeom>
          <a:noFill/>
        </p:spPr>
        <p:txBody>
          <a:bodyPr wrap="square" lIns="91440" tIns="45720" rIns="91440" bIns="45720" rtlCol="0" anchor="t">
            <a:spAutoFit/>
          </a:bodyPr>
          <a:lstStyle/>
          <a:p>
            <a:pPr algn="ctr"/>
            <a:r>
              <a:rPr lang="en-US" altLang="en-US" b="1" i="1" dirty="0">
                <a:latin typeface="FreeSerif" panose="02020603050405020304"/>
              </a:rPr>
              <a:t>The MLP Assumption</a:t>
            </a:r>
          </a:p>
        </p:txBody>
      </p:sp>
      <p:pic>
        <p:nvPicPr>
          <p:cNvPr id="10" name="Picture 9"/>
          <p:cNvPicPr>
            <a:picLocks noChangeAspect="1"/>
          </p:cNvPicPr>
          <p:nvPr/>
        </p:nvPicPr>
        <p:blipFill>
          <a:blip r:embed="rId2"/>
          <a:stretch>
            <a:fillRect/>
          </a:stretch>
        </p:blipFill>
        <p:spPr>
          <a:xfrm>
            <a:off x="189865" y="1123315"/>
            <a:ext cx="2528570" cy="756285"/>
          </a:xfrm>
          <a:prstGeom prst="rect">
            <a:avLst/>
          </a:prstGeom>
        </p:spPr>
      </p:pic>
      <p:sp>
        <p:nvSpPr>
          <p:cNvPr id="12" name="Text Box 11"/>
          <p:cNvSpPr txBox="1"/>
          <p:nvPr/>
        </p:nvSpPr>
        <p:spPr>
          <a:xfrm>
            <a:off x="189865" y="790575"/>
            <a:ext cx="2528570" cy="368300"/>
          </a:xfrm>
          <a:prstGeom prst="rect">
            <a:avLst/>
          </a:prstGeom>
          <a:solidFill>
            <a:schemeClr val="tx1"/>
          </a:solidFill>
        </p:spPr>
        <p:txBody>
          <a:bodyPr wrap="square" rtlCol="0">
            <a:spAutoFit/>
          </a:bodyPr>
          <a:lstStyle/>
          <a:p>
            <a:pPr algn="ctr"/>
            <a:r>
              <a:rPr lang="en-US" altLang="en-US">
                <a:solidFill>
                  <a:schemeClr val="bg1"/>
                </a:solidFill>
                <a:latin typeface="FreeSerif" panose="02020603050405020304" charset="0"/>
                <a:cs typeface="FreeSerif" panose="02020603050405020304" charset="0"/>
              </a:rPr>
              <a:t>MLP</a:t>
            </a:r>
          </a:p>
        </p:txBody>
      </p:sp>
      <p:sp>
        <p:nvSpPr>
          <p:cNvPr id="14" name="Text Box 13"/>
          <p:cNvSpPr txBox="1"/>
          <p:nvPr/>
        </p:nvSpPr>
        <p:spPr>
          <a:xfrm>
            <a:off x="189865" y="2092960"/>
            <a:ext cx="2528570" cy="368300"/>
          </a:xfrm>
          <a:prstGeom prst="rect">
            <a:avLst/>
          </a:prstGeom>
          <a:solidFill>
            <a:schemeClr val="tx1"/>
          </a:solidFill>
        </p:spPr>
        <p:txBody>
          <a:bodyPr wrap="square" rtlCol="0">
            <a:spAutoFit/>
          </a:bodyPr>
          <a:lstStyle/>
          <a:p>
            <a:pPr algn="ctr"/>
            <a:r>
              <a:rPr lang="en-US" altLang="en-US">
                <a:solidFill>
                  <a:schemeClr val="bg1"/>
                </a:solidFill>
                <a:latin typeface="FreeSerif" panose="02020603050405020304" charset="0"/>
                <a:cs typeface="FreeSerif" panose="02020603050405020304" charset="0"/>
              </a:rPr>
              <a:t>KAN</a:t>
            </a:r>
          </a:p>
        </p:txBody>
      </p:sp>
      <p:sp>
        <p:nvSpPr>
          <p:cNvPr id="15" name="Text Box 14"/>
          <p:cNvSpPr txBox="1"/>
          <p:nvPr/>
        </p:nvSpPr>
        <p:spPr>
          <a:xfrm>
            <a:off x="3308350" y="852170"/>
            <a:ext cx="1707515" cy="245110"/>
          </a:xfrm>
          <a:prstGeom prst="rect">
            <a:avLst/>
          </a:prstGeom>
          <a:noFill/>
          <a:ln>
            <a:solidFill>
              <a:schemeClr val="tx1"/>
            </a:solidFill>
          </a:ln>
        </p:spPr>
        <p:txBody>
          <a:bodyPr wrap="square" rtlCol="0">
            <a:spAutoFit/>
          </a:bodyPr>
          <a:lstStyle/>
          <a:p>
            <a:r>
              <a:rPr lang="en-US" altLang="en-US" sz="1000">
                <a:latin typeface="FreeSerif" panose="02020603050405020304" charset="0"/>
                <a:cs typeface="FreeSerif" panose="02020603050405020304" charset="0"/>
              </a:rPr>
              <a:t>Linear weights on edges</a:t>
            </a:r>
          </a:p>
        </p:txBody>
      </p:sp>
      <p:sp>
        <p:nvSpPr>
          <p:cNvPr id="16" name="Text Box 15"/>
          <p:cNvSpPr txBox="1"/>
          <p:nvPr/>
        </p:nvSpPr>
        <p:spPr>
          <a:xfrm>
            <a:off x="3296285" y="1265555"/>
            <a:ext cx="1719580" cy="398780"/>
          </a:xfrm>
          <a:prstGeom prst="rect">
            <a:avLst/>
          </a:prstGeom>
          <a:noFill/>
          <a:ln>
            <a:solidFill>
              <a:schemeClr val="tx1"/>
            </a:solidFill>
          </a:ln>
        </p:spPr>
        <p:txBody>
          <a:bodyPr wrap="square" rtlCol="0">
            <a:spAutoFit/>
          </a:bodyPr>
          <a:lstStyle/>
          <a:p>
            <a:r>
              <a:rPr lang="en-US" altLang="en-US" sz="1000">
                <a:latin typeface="FreeSerif" panose="02020603050405020304" charset="0"/>
                <a:cs typeface="FreeSerif" panose="02020603050405020304" charset="0"/>
              </a:rPr>
              <a:t>Non-linear activation on</a:t>
            </a:r>
            <a:br>
              <a:rPr lang="en-US" altLang="en-US" sz="1000">
                <a:latin typeface="FreeSerif" panose="02020603050405020304" charset="0"/>
                <a:cs typeface="FreeSerif" panose="02020603050405020304" charset="0"/>
              </a:rPr>
            </a:br>
            <a:r>
              <a:rPr lang="en-US" altLang="en-US" sz="1000">
                <a:latin typeface="FreeSerif" panose="02020603050405020304" charset="0"/>
                <a:cs typeface="FreeSerif" panose="02020603050405020304" charset="0"/>
              </a:rPr>
              <a:t>nodes</a:t>
            </a:r>
          </a:p>
        </p:txBody>
      </p:sp>
      <p:cxnSp>
        <p:nvCxnSpPr>
          <p:cNvPr id="17" name="Straight Arrow Connector 16"/>
          <p:cNvCxnSpPr>
            <a:stCxn id="12" idx="3"/>
            <a:endCxn id="15" idx="1"/>
          </p:cNvCxnSpPr>
          <p:nvPr/>
        </p:nvCxnSpPr>
        <p:spPr>
          <a:xfrm>
            <a:off x="2727960" y="974725"/>
            <a:ext cx="589915" cy="0"/>
          </a:xfrm>
          <a:prstGeom prst="straightConnector1">
            <a:avLst/>
          </a:prstGeom>
          <a:ln>
            <a:tailEnd type="triangle" w="med" len="med"/>
          </a:ln>
        </p:spPr>
        <p:style>
          <a:lnRef idx="1">
            <a:schemeClr val="dk1"/>
          </a:lnRef>
          <a:fillRef idx="0">
            <a:schemeClr val="dk1"/>
          </a:fillRef>
          <a:effectRef idx="0">
            <a:schemeClr val="dk1"/>
          </a:effectRef>
          <a:fontRef idx="minor">
            <a:schemeClr val="tx1"/>
          </a:fontRef>
        </p:style>
      </p:cxnSp>
      <p:cxnSp>
        <p:nvCxnSpPr>
          <p:cNvPr id="18" name="Elbow Connector 17"/>
          <p:cNvCxnSpPr>
            <a:stCxn id="12" idx="3"/>
          </p:cNvCxnSpPr>
          <p:nvPr/>
        </p:nvCxnSpPr>
        <p:spPr>
          <a:xfrm>
            <a:off x="2727960" y="974725"/>
            <a:ext cx="577850" cy="526415"/>
          </a:xfrm>
          <a:prstGeom prst="bentConnector3">
            <a:avLst>
              <a:gd name="adj1" fmla="val 50000"/>
            </a:avLst>
          </a:prstGeom>
          <a:ln>
            <a:tailEnd type="triangle" w="med" len="med"/>
          </a:ln>
        </p:spPr>
        <p:style>
          <a:lnRef idx="1">
            <a:schemeClr val="dk1"/>
          </a:lnRef>
          <a:fillRef idx="0">
            <a:schemeClr val="dk1"/>
          </a:fillRef>
          <a:effectRef idx="0">
            <a:schemeClr val="dk1"/>
          </a:effectRef>
          <a:fontRef idx="minor">
            <a:schemeClr val="tx1"/>
          </a:fontRef>
        </p:style>
      </p:cxnSp>
      <p:sp>
        <p:nvSpPr>
          <p:cNvPr id="19" name="Text Box 18"/>
          <p:cNvSpPr txBox="1"/>
          <p:nvPr/>
        </p:nvSpPr>
        <p:spPr>
          <a:xfrm>
            <a:off x="3292475" y="2077720"/>
            <a:ext cx="1670685" cy="398780"/>
          </a:xfrm>
          <a:prstGeom prst="rect">
            <a:avLst/>
          </a:prstGeom>
          <a:noFill/>
          <a:ln>
            <a:solidFill>
              <a:schemeClr val="tx1"/>
            </a:solidFill>
          </a:ln>
        </p:spPr>
        <p:txBody>
          <a:bodyPr wrap="square" rtlCol="0">
            <a:spAutoFit/>
          </a:bodyPr>
          <a:lstStyle/>
          <a:p>
            <a:r>
              <a:rPr lang="en-US" altLang="en-US" sz="1000">
                <a:latin typeface="FreeSerif" panose="02020603050405020304" charset="0"/>
                <a:cs typeface="FreeSerif" panose="02020603050405020304" charset="0"/>
              </a:rPr>
              <a:t>Learnable activation     </a:t>
            </a:r>
          </a:p>
          <a:p>
            <a:r>
              <a:rPr lang="en-US" altLang="en-US" sz="1000">
                <a:latin typeface="FreeSerif" panose="02020603050405020304" charset="0"/>
                <a:cs typeface="FreeSerif" panose="02020603050405020304" charset="0"/>
              </a:rPr>
              <a:t>functions on edges</a:t>
            </a:r>
          </a:p>
        </p:txBody>
      </p:sp>
      <p:sp>
        <p:nvSpPr>
          <p:cNvPr id="20" name="Text Box 19"/>
          <p:cNvSpPr txBox="1"/>
          <p:nvPr/>
        </p:nvSpPr>
        <p:spPr>
          <a:xfrm>
            <a:off x="3296285" y="2905760"/>
            <a:ext cx="1684020" cy="553085"/>
          </a:xfrm>
          <a:prstGeom prst="rect">
            <a:avLst/>
          </a:prstGeom>
          <a:noFill/>
          <a:ln>
            <a:solidFill>
              <a:schemeClr val="tx1"/>
            </a:solidFill>
          </a:ln>
        </p:spPr>
        <p:txBody>
          <a:bodyPr wrap="square" rtlCol="0">
            <a:spAutoFit/>
          </a:bodyPr>
          <a:lstStyle/>
          <a:p>
            <a:r>
              <a:rPr lang="en-US" altLang="en-US" sz="1000">
                <a:latin typeface="FreeSerif" panose="02020603050405020304" charset="0"/>
                <a:cs typeface="FreeSerif" panose="02020603050405020304" charset="0"/>
              </a:rPr>
              <a:t>Nodes perform simple  </a:t>
            </a:r>
            <a:br>
              <a:rPr lang="en-US" altLang="en-US" sz="1000">
                <a:latin typeface="FreeSerif" panose="02020603050405020304" charset="0"/>
                <a:cs typeface="FreeSerif" panose="02020603050405020304" charset="0"/>
              </a:rPr>
            </a:br>
            <a:r>
              <a:rPr lang="en-US" altLang="en-US" sz="1000">
                <a:latin typeface="FreeSerif" panose="02020603050405020304" charset="0"/>
                <a:cs typeface="FreeSerif" panose="02020603050405020304" charset="0"/>
              </a:rPr>
              <a:t>summation without </a:t>
            </a:r>
            <a:br>
              <a:rPr lang="en-US" altLang="en-US" sz="1000">
                <a:latin typeface="FreeSerif" panose="02020603050405020304" charset="0"/>
                <a:cs typeface="FreeSerif" panose="02020603050405020304" charset="0"/>
              </a:rPr>
            </a:br>
            <a:r>
              <a:rPr lang="en-US" altLang="en-US" sz="1000">
                <a:latin typeface="FreeSerif" panose="02020603050405020304" charset="0"/>
                <a:cs typeface="FreeSerif" panose="02020603050405020304" charset="0"/>
              </a:rPr>
              <a:t>non-linearitues</a:t>
            </a:r>
          </a:p>
        </p:txBody>
      </p:sp>
      <p:cxnSp>
        <p:nvCxnSpPr>
          <p:cNvPr id="23" name="Straight Arrow Connector 22"/>
          <p:cNvCxnSpPr>
            <a:stCxn id="14" idx="3"/>
            <a:endCxn id="19" idx="1"/>
          </p:cNvCxnSpPr>
          <p:nvPr/>
        </p:nvCxnSpPr>
        <p:spPr>
          <a:xfrm>
            <a:off x="2727960" y="2277110"/>
            <a:ext cx="574040" cy="0"/>
          </a:xfrm>
          <a:prstGeom prst="straightConnector1">
            <a:avLst/>
          </a:prstGeom>
          <a:ln>
            <a:tailEnd type="triangle" w="med" len="med"/>
          </a:ln>
        </p:spPr>
        <p:style>
          <a:lnRef idx="1">
            <a:schemeClr val="dk1"/>
          </a:lnRef>
          <a:fillRef idx="0">
            <a:schemeClr val="dk1"/>
          </a:fillRef>
          <a:effectRef idx="0">
            <a:schemeClr val="dk1"/>
          </a:effectRef>
          <a:fontRef idx="minor">
            <a:schemeClr val="tx1"/>
          </a:fontRef>
        </p:style>
      </p:cxnSp>
      <p:cxnSp>
        <p:nvCxnSpPr>
          <p:cNvPr id="24" name="Elbow Connector 23"/>
          <p:cNvCxnSpPr>
            <a:stCxn id="14" idx="3"/>
            <a:endCxn id="20" idx="1"/>
          </p:cNvCxnSpPr>
          <p:nvPr/>
        </p:nvCxnSpPr>
        <p:spPr>
          <a:xfrm>
            <a:off x="2727960" y="2277110"/>
            <a:ext cx="577850" cy="905510"/>
          </a:xfrm>
          <a:prstGeom prst="bentConnector3">
            <a:avLst>
              <a:gd name="adj1" fmla="val 50000"/>
            </a:avLst>
          </a:prstGeom>
          <a:ln>
            <a:solidFill>
              <a:srgbClr val="202020"/>
            </a:solidFill>
            <a:tailEnd type="triangle"/>
          </a:ln>
        </p:spPr>
        <p:style>
          <a:lnRef idx="1">
            <a:schemeClr val="accent1"/>
          </a:lnRef>
          <a:fillRef idx="0">
            <a:schemeClr val="accent1"/>
          </a:fillRef>
          <a:effectRef idx="0">
            <a:schemeClr val="accent1"/>
          </a:effectRef>
          <a:fontRef idx="minor">
            <a:schemeClr val="tx1"/>
          </a:fontRef>
        </p:style>
      </p:cxnSp>
      <p:sp>
        <p:nvSpPr>
          <p:cNvPr id="25" name="Text Box 24"/>
          <p:cNvSpPr txBox="1"/>
          <p:nvPr/>
        </p:nvSpPr>
        <p:spPr>
          <a:xfrm>
            <a:off x="4453573" y="4278630"/>
            <a:ext cx="1192530" cy="521970"/>
          </a:xfrm>
          <a:prstGeom prst="rect">
            <a:avLst/>
          </a:prstGeom>
          <a:solidFill>
            <a:schemeClr val="tx1"/>
          </a:solidFill>
          <a:ln>
            <a:solidFill>
              <a:schemeClr val="tx1"/>
            </a:solidFill>
          </a:ln>
        </p:spPr>
        <p:txBody>
          <a:bodyPr wrap="none" rtlCol="0">
            <a:spAutoFit/>
          </a:bodyPr>
          <a:lstStyle/>
          <a:p>
            <a:pPr algn="ctr"/>
            <a:r>
              <a:rPr lang="en-US" altLang="en-US" sz="1400">
                <a:solidFill>
                  <a:schemeClr val="bg1"/>
                </a:solidFill>
                <a:latin typeface="FreeSerif" panose="02020603050405020304" charset="0"/>
                <a:cs typeface="FreeSerif" panose="02020603050405020304" charset="0"/>
              </a:rPr>
              <a:t>LOCAL </a:t>
            </a:r>
            <a:br>
              <a:rPr lang="en-US" altLang="en-US" sz="1400">
                <a:solidFill>
                  <a:schemeClr val="bg1"/>
                </a:solidFill>
                <a:latin typeface="FreeSerif" panose="02020603050405020304" charset="0"/>
                <a:cs typeface="FreeSerif" panose="02020603050405020304" charset="0"/>
              </a:rPr>
            </a:br>
            <a:r>
              <a:rPr lang="en-US" altLang="en-US" sz="1400">
                <a:solidFill>
                  <a:schemeClr val="bg1"/>
                </a:solidFill>
                <a:latin typeface="FreeSerif" panose="02020603050405020304" charset="0"/>
                <a:cs typeface="FreeSerif" panose="02020603050405020304" charset="0"/>
              </a:rPr>
              <a:t>PLASTICITY</a:t>
            </a:r>
          </a:p>
        </p:txBody>
      </p:sp>
      <p:sp>
        <p:nvSpPr>
          <p:cNvPr id="26" name="Text Box 25"/>
          <p:cNvSpPr txBox="1"/>
          <p:nvPr/>
        </p:nvSpPr>
        <p:spPr>
          <a:xfrm>
            <a:off x="3923665" y="5594350"/>
            <a:ext cx="920750" cy="645160"/>
          </a:xfrm>
          <a:prstGeom prst="rect">
            <a:avLst/>
          </a:prstGeom>
          <a:solidFill>
            <a:schemeClr val="accent6"/>
          </a:solidFill>
          <a:ln>
            <a:solidFill>
              <a:schemeClr val="tx1"/>
            </a:solidFill>
          </a:ln>
        </p:spPr>
        <p:txBody>
          <a:bodyPr wrap="square" rtlCol="0">
            <a:spAutoFit/>
          </a:bodyPr>
          <a:lstStyle/>
          <a:p>
            <a:pPr algn="ctr"/>
            <a:r>
              <a:rPr lang="en-US" altLang="en-US" sz="1200">
                <a:solidFill>
                  <a:schemeClr val="bg1"/>
                </a:solidFill>
                <a:latin typeface="FreeSerif" panose="02020603050405020304" charset="0"/>
                <a:cs typeface="FreeSerif" panose="02020603050405020304" charset="0"/>
              </a:rPr>
              <a:t>Localized B-spline updates</a:t>
            </a:r>
          </a:p>
        </p:txBody>
      </p:sp>
      <p:sp>
        <p:nvSpPr>
          <p:cNvPr id="27" name="Text Box 26"/>
          <p:cNvSpPr txBox="1"/>
          <p:nvPr/>
        </p:nvSpPr>
        <p:spPr>
          <a:xfrm>
            <a:off x="5410200" y="5594350"/>
            <a:ext cx="874395" cy="460375"/>
          </a:xfrm>
          <a:prstGeom prst="rect">
            <a:avLst/>
          </a:prstGeom>
          <a:solidFill>
            <a:srgbClr val="FF0000"/>
          </a:solidFill>
          <a:ln>
            <a:solidFill>
              <a:schemeClr val="tx1"/>
            </a:solidFill>
          </a:ln>
        </p:spPr>
        <p:txBody>
          <a:bodyPr wrap="none" rtlCol="0">
            <a:spAutoFit/>
          </a:bodyPr>
          <a:lstStyle/>
          <a:p>
            <a:pPr algn="ctr"/>
            <a:r>
              <a:rPr lang="en-US" altLang="en-US" sz="1200">
                <a:solidFill>
                  <a:schemeClr val="bg1"/>
                </a:solidFill>
                <a:latin typeface="FreeSerif" panose="02020603050405020304" charset="0"/>
                <a:cs typeface="FreeSerif" panose="02020603050405020304" charset="0"/>
              </a:rPr>
              <a:t>Global </a:t>
            </a:r>
            <a:br>
              <a:rPr lang="en-US" altLang="en-US" sz="1200">
                <a:solidFill>
                  <a:schemeClr val="bg1"/>
                </a:solidFill>
                <a:latin typeface="FreeSerif" panose="02020603050405020304" charset="0"/>
                <a:cs typeface="FreeSerif" panose="02020603050405020304" charset="0"/>
              </a:rPr>
            </a:br>
            <a:r>
              <a:rPr lang="en-US" altLang="en-US" sz="1200">
                <a:solidFill>
                  <a:schemeClr val="bg1"/>
                </a:solidFill>
                <a:latin typeface="FreeSerif" panose="02020603050405020304" charset="0"/>
                <a:cs typeface="FreeSerif" panose="02020603050405020304" charset="0"/>
              </a:rPr>
              <a:t>Activations</a:t>
            </a:r>
          </a:p>
        </p:txBody>
      </p:sp>
      <p:pic>
        <p:nvPicPr>
          <p:cNvPr id="31" name="Picture 30"/>
          <p:cNvPicPr>
            <a:picLocks noChangeAspect="1"/>
          </p:cNvPicPr>
          <p:nvPr/>
        </p:nvPicPr>
        <p:blipFill>
          <a:blip r:embed="rId3"/>
          <a:stretch>
            <a:fillRect/>
          </a:stretch>
        </p:blipFill>
        <p:spPr>
          <a:xfrm>
            <a:off x="172720" y="2454275"/>
            <a:ext cx="2545715" cy="550545"/>
          </a:xfrm>
          <a:prstGeom prst="rect">
            <a:avLst/>
          </a:prstGeom>
        </p:spPr>
      </p:pic>
      <p:sp>
        <p:nvSpPr>
          <p:cNvPr id="37" name="Text Box 36"/>
          <p:cNvSpPr txBox="1"/>
          <p:nvPr/>
        </p:nvSpPr>
        <p:spPr>
          <a:xfrm>
            <a:off x="719455" y="4278630"/>
            <a:ext cx="1677035" cy="521970"/>
          </a:xfrm>
          <a:prstGeom prst="rect">
            <a:avLst/>
          </a:prstGeom>
          <a:solidFill>
            <a:schemeClr val="tx1"/>
          </a:solidFill>
          <a:ln>
            <a:solidFill>
              <a:schemeClr val="tx1"/>
            </a:solidFill>
          </a:ln>
        </p:spPr>
        <p:txBody>
          <a:bodyPr wrap="none" rtlCol="0">
            <a:spAutoFit/>
          </a:bodyPr>
          <a:lstStyle/>
          <a:p>
            <a:pPr algn="ctr"/>
            <a:r>
              <a:rPr lang="en-US" altLang="en-US" sz="1400">
                <a:solidFill>
                  <a:schemeClr val="bg1"/>
                </a:solidFill>
                <a:latin typeface="FreeSerif" panose="02020603050405020304" charset="0"/>
                <a:cs typeface="FreeSerif" panose="02020603050405020304" charset="0"/>
              </a:rPr>
              <a:t>COMPOSITIONAL </a:t>
            </a:r>
            <a:br>
              <a:rPr lang="en-US" altLang="en-US" sz="1400">
                <a:solidFill>
                  <a:schemeClr val="bg1"/>
                </a:solidFill>
                <a:latin typeface="FreeSerif" panose="02020603050405020304" charset="0"/>
                <a:cs typeface="FreeSerif" panose="02020603050405020304" charset="0"/>
              </a:rPr>
            </a:br>
            <a:r>
              <a:rPr lang="en-US" altLang="en-US" sz="1400">
                <a:solidFill>
                  <a:schemeClr val="bg1"/>
                </a:solidFill>
                <a:latin typeface="FreeSerif" panose="02020603050405020304" charset="0"/>
                <a:cs typeface="FreeSerif" panose="02020603050405020304" charset="0"/>
              </a:rPr>
              <a:t>STRUCTURE</a:t>
            </a:r>
          </a:p>
        </p:txBody>
      </p:sp>
      <p:sp>
        <p:nvSpPr>
          <p:cNvPr id="38" name="Text Box 37"/>
          <p:cNvSpPr txBox="1"/>
          <p:nvPr/>
        </p:nvSpPr>
        <p:spPr>
          <a:xfrm>
            <a:off x="19685" y="5594350"/>
            <a:ext cx="1371600" cy="460375"/>
          </a:xfrm>
          <a:prstGeom prst="rect">
            <a:avLst/>
          </a:prstGeom>
          <a:solidFill>
            <a:schemeClr val="accent6"/>
          </a:solidFill>
          <a:ln>
            <a:solidFill>
              <a:schemeClr val="tx1"/>
            </a:solidFill>
          </a:ln>
        </p:spPr>
        <p:txBody>
          <a:bodyPr wrap="square" rtlCol="0">
            <a:spAutoFit/>
          </a:bodyPr>
          <a:lstStyle/>
          <a:p>
            <a:pPr algn="ctr"/>
            <a:r>
              <a:rPr lang="en-US" altLang="en-US" sz="1200">
                <a:solidFill>
                  <a:schemeClr val="bg1"/>
                </a:solidFill>
                <a:latin typeface="FreeSerif" panose="02020603050405020304" charset="0"/>
                <a:cs typeface="FreeSerif" panose="02020603050405020304" charset="0"/>
              </a:rPr>
              <a:t>Hierarchical 1D Functions</a:t>
            </a:r>
          </a:p>
        </p:txBody>
      </p:sp>
      <p:sp>
        <p:nvSpPr>
          <p:cNvPr id="39" name="Text Box 38"/>
          <p:cNvSpPr txBox="1"/>
          <p:nvPr/>
        </p:nvSpPr>
        <p:spPr>
          <a:xfrm>
            <a:off x="1853883" y="5594350"/>
            <a:ext cx="1648460" cy="460375"/>
          </a:xfrm>
          <a:prstGeom prst="rect">
            <a:avLst/>
          </a:prstGeom>
          <a:solidFill>
            <a:srgbClr val="FF0000"/>
          </a:solidFill>
          <a:ln>
            <a:solidFill>
              <a:schemeClr val="tx1"/>
            </a:solidFill>
          </a:ln>
        </p:spPr>
        <p:txBody>
          <a:bodyPr wrap="none" rtlCol="0">
            <a:spAutoFit/>
          </a:bodyPr>
          <a:lstStyle/>
          <a:p>
            <a:pPr algn="ctr"/>
            <a:r>
              <a:rPr lang="en-US" altLang="en-US" sz="1200">
                <a:solidFill>
                  <a:schemeClr val="bg1"/>
                </a:solidFill>
                <a:latin typeface="FreeSerif" panose="02020603050405020304" charset="0"/>
                <a:cs typeface="FreeSerif" panose="02020603050405020304" charset="0"/>
              </a:rPr>
              <a:t>Arbitrary d-dimensional</a:t>
            </a:r>
          </a:p>
          <a:p>
            <a:pPr algn="ctr"/>
            <a:r>
              <a:rPr lang="en-US" altLang="en-US" sz="1200">
                <a:solidFill>
                  <a:schemeClr val="bg1"/>
                </a:solidFill>
                <a:latin typeface="FreeSerif" panose="02020603050405020304" charset="0"/>
                <a:cs typeface="FreeSerif" panose="02020603050405020304" charset="0"/>
              </a:rPr>
              <a:t>Functions</a:t>
            </a:r>
          </a:p>
        </p:txBody>
      </p:sp>
      <p:cxnSp>
        <p:nvCxnSpPr>
          <p:cNvPr id="42" name="Elbow Connector 41"/>
          <p:cNvCxnSpPr>
            <a:stCxn id="37" idx="2"/>
            <a:endCxn id="38" idx="0"/>
          </p:cNvCxnSpPr>
          <p:nvPr/>
        </p:nvCxnSpPr>
        <p:spPr>
          <a:xfrm rot="5400000">
            <a:off x="744538" y="4771073"/>
            <a:ext cx="793750" cy="852805"/>
          </a:xfrm>
          <a:prstGeom prst="bentConnector3">
            <a:avLst>
              <a:gd name="adj1" fmla="val 49960"/>
            </a:avLst>
          </a:prstGeom>
          <a:ln>
            <a:tailEnd type="triangle" w="med" len="med"/>
          </a:ln>
        </p:spPr>
        <p:style>
          <a:lnRef idx="1">
            <a:schemeClr val="dk1"/>
          </a:lnRef>
          <a:fillRef idx="0">
            <a:schemeClr val="dk1"/>
          </a:fillRef>
          <a:effectRef idx="0">
            <a:schemeClr val="dk1"/>
          </a:effectRef>
          <a:fontRef idx="minor">
            <a:schemeClr val="tx1"/>
          </a:fontRef>
        </p:style>
      </p:cxnSp>
      <p:cxnSp>
        <p:nvCxnSpPr>
          <p:cNvPr id="44" name="Elbow Connector 43"/>
          <p:cNvCxnSpPr>
            <a:stCxn id="37" idx="2"/>
            <a:endCxn id="39" idx="0"/>
          </p:cNvCxnSpPr>
          <p:nvPr/>
        </p:nvCxnSpPr>
        <p:spPr>
          <a:xfrm rot="5400000" flipV="1">
            <a:off x="1731010" y="4637405"/>
            <a:ext cx="793750" cy="112014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Elbow Connector 44"/>
          <p:cNvCxnSpPr>
            <a:stCxn id="25" idx="2"/>
            <a:endCxn id="26" idx="0"/>
          </p:cNvCxnSpPr>
          <p:nvPr/>
        </p:nvCxnSpPr>
        <p:spPr>
          <a:xfrm rot="5400000">
            <a:off x="4329748" y="4864418"/>
            <a:ext cx="793750" cy="666115"/>
          </a:xfrm>
          <a:prstGeom prst="bentConnector3">
            <a:avLst>
              <a:gd name="adj1" fmla="val 4996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Elbow Connector 45"/>
          <p:cNvCxnSpPr>
            <a:stCxn id="25" idx="2"/>
            <a:endCxn id="27" idx="0"/>
          </p:cNvCxnSpPr>
          <p:nvPr/>
        </p:nvCxnSpPr>
        <p:spPr>
          <a:xfrm rot="5400000" flipV="1">
            <a:off x="5061585" y="4798695"/>
            <a:ext cx="793750" cy="797560"/>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6628765" y="708660"/>
            <a:ext cx="10160" cy="5659755"/>
          </a:xfrm>
          <a:prstGeom prst="line">
            <a:avLst/>
          </a:prstGeom>
          <a:ln>
            <a:solidFill>
              <a:schemeClr val="tx1"/>
            </a:solidFill>
            <a:prstDash val="lgDashDotDot"/>
          </a:ln>
        </p:spPr>
        <p:style>
          <a:lnRef idx="1">
            <a:schemeClr val="accent1"/>
          </a:lnRef>
          <a:fillRef idx="0">
            <a:schemeClr val="accent1"/>
          </a:fillRef>
          <a:effectRef idx="0">
            <a:schemeClr val="accent1"/>
          </a:effectRef>
          <a:fontRef idx="minor">
            <a:schemeClr val="tx1"/>
          </a:fontRef>
        </p:style>
      </p:cxnSp>
      <p:pic>
        <p:nvPicPr>
          <p:cNvPr id="49" name="Picture 48"/>
          <p:cNvPicPr>
            <a:picLocks noChangeAspect="1"/>
          </p:cNvPicPr>
          <p:nvPr/>
        </p:nvPicPr>
        <p:blipFill>
          <a:blip r:embed="rId4"/>
          <a:stretch>
            <a:fillRect/>
          </a:stretch>
        </p:blipFill>
        <p:spPr>
          <a:xfrm>
            <a:off x="6638925" y="984885"/>
            <a:ext cx="5561965" cy="1957705"/>
          </a:xfrm>
          <a:prstGeom prst="rect">
            <a:avLst/>
          </a:prstGeom>
        </p:spPr>
      </p:pic>
      <p:sp>
        <p:nvSpPr>
          <p:cNvPr id="50" name="Text Box 49"/>
          <p:cNvSpPr txBox="1"/>
          <p:nvPr/>
        </p:nvSpPr>
        <p:spPr>
          <a:xfrm>
            <a:off x="6638925" y="678180"/>
            <a:ext cx="1785620" cy="306705"/>
          </a:xfrm>
          <a:prstGeom prst="rect">
            <a:avLst/>
          </a:prstGeom>
          <a:solidFill>
            <a:schemeClr val="tx1"/>
          </a:solidFill>
        </p:spPr>
        <p:txBody>
          <a:bodyPr wrap="square" rtlCol="0">
            <a:spAutoFit/>
          </a:bodyPr>
          <a:lstStyle/>
          <a:p>
            <a:pPr algn="l"/>
            <a:r>
              <a:rPr lang="en-US" altLang="en-US" sz="1400">
                <a:solidFill>
                  <a:schemeClr val="bg1"/>
                </a:solidFill>
                <a:latin typeface="FreeSerif" panose="02020603050405020304" charset="0"/>
                <a:cs typeface="FreeSerif" panose="02020603050405020304" charset="0"/>
              </a:rPr>
              <a:t>Parameter Efficiency</a:t>
            </a:r>
          </a:p>
        </p:txBody>
      </p:sp>
      <p:pic>
        <p:nvPicPr>
          <p:cNvPr id="51" name="Picture 50"/>
          <p:cNvPicPr>
            <a:picLocks noChangeAspect="1"/>
          </p:cNvPicPr>
          <p:nvPr/>
        </p:nvPicPr>
        <p:blipFill>
          <a:blip r:embed="rId5"/>
          <a:stretch>
            <a:fillRect/>
          </a:stretch>
        </p:blipFill>
        <p:spPr>
          <a:xfrm>
            <a:off x="6652260" y="3765550"/>
            <a:ext cx="5502910" cy="2912110"/>
          </a:xfrm>
          <a:prstGeom prst="rect">
            <a:avLst/>
          </a:prstGeom>
        </p:spPr>
      </p:pic>
      <p:sp>
        <p:nvSpPr>
          <p:cNvPr id="52" name="Text Box 51"/>
          <p:cNvSpPr txBox="1"/>
          <p:nvPr/>
        </p:nvSpPr>
        <p:spPr>
          <a:xfrm>
            <a:off x="6638925" y="3458845"/>
            <a:ext cx="2287270" cy="306705"/>
          </a:xfrm>
          <a:prstGeom prst="rect">
            <a:avLst/>
          </a:prstGeom>
          <a:solidFill>
            <a:schemeClr val="tx1"/>
          </a:solidFill>
        </p:spPr>
        <p:txBody>
          <a:bodyPr wrap="square" rtlCol="0">
            <a:spAutoFit/>
          </a:bodyPr>
          <a:lstStyle/>
          <a:p>
            <a:pPr algn="l"/>
            <a:r>
              <a:rPr lang="en-US" altLang="en-US" sz="1400">
                <a:solidFill>
                  <a:schemeClr val="bg1"/>
                </a:solidFill>
                <a:latin typeface="FreeSerif" panose="02020603050405020304" charset="0"/>
                <a:cs typeface="FreeSerif" panose="02020603050405020304" charset="0"/>
              </a:rPr>
              <a:t>Interpretability &amp; Discovery</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6"/>
          <p:cNvSpPr txBox="1"/>
          <p:nvPr/>
        </p:nvSpPr>
        <p:spPr>
          <a:xfrm>
            <a:off x="4479290" y="146050"/>
            <a:ext cx="3234055" cy="368300"/>
          </a:xfrm>
          <a:prstGeom prst="rect">
            <a:avLst/>
          </a:prstGeom>
          <a:noFill/>
        </p:spPr>
        <p:txBody>
          <a:bodyPr wrap="square" lIns="91440" tIns="45720" rIns="91440" bIns="45720" rtlCol="0" anchor="t">
            <a:spAutoFit/>
          </a:bodyPr>
          <a:lstStyle/>
          <a:p>
            <a:pPr algn="ctr"/>
            <a:r>
              <a:rPr lang="en-US" altLang="en-US" b="1" i="1" dirty="0">
                <a:latin typeface="FreeSerif" panose="02020603050405020304"/>
              </a:rPr>
              <a:t>The MLP Assumption</a:t>
            </a:r>
          </a:p>
        </p:txBody>
      </p:sp>
      <p:pic>
        <p:nvPicPr>
          <p:cNvPr id="4" name="Picture 3"/>
          <p:cNvPicPr>
            <a:picLocks noChangeAspect="1"/>
          </p:cNvPicPr>
          <p:nvPr/>
        </p:nvPicPr>
        <p:blipFill>
          <a:blip r:embed="rId2"/>
          <a:stretch>
            <a:fillRect/>
          </a:stretch>
        </p:blipFill>
        <p:spPr>
          <a:xfrm>
            <a:off x="1586230" y="1367155"/>
            <a:ext cx="9020175" cy="4124325"/>
          </a:xfrm>
          <a:prstGeom prst="rect">
            <a:avLst/>
          </a:prstGeom>
        </p:spPr>
      </p:pic>
      <p:sp>
        <p:nvSpPr>
          <p:cNvPr id="52" name="Text Box 51"/>
          <p:cNvSpPr txBox="1"/>
          <p:nvPr/>
        </p:nvSpPr>
        <p:spPr>
          <a:xfrm>
            <a:off x="5033645" y="1060450"/>
            <a:ext cx="2287270" cy="306705"/>
          </a:xfrm>
          <a:prstGeom prst="rect">
            <a:avLst/>
          </a:prstGeom>
          <a:solidFill>
            <a:schemeClr val="tx1"/>
          </a:solidFill>
        </p:spPr>
        <p:txBody>
          <a:bodyPr wrap="square" rtlCol="0">
            <a:spAutoFit/>
          </a:bodyPr>
          <a:lstStyle/>
          <a:p>
            <a:pPr algn="ctr"/>
            <a:r>
              <a:rPr lang="en-US" altLang="en-US" sz="1400">
                <a:solidFill>
                  <a:schemeClr val="bg1"/>
                </a:solidFill>
                <a:latin typeface="FreeSerif" panose="02020603050405020304" charset="0"/>
                <a:cs typeface="FreeSerif" panose="02020603050405020304" charset="0"/>
              </a:rPr>
              <a:t>Catastrophic Forgetting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6"/>
          <p:cNvSpPr txBox="1"/>
          <p:nvPr/>
        </p:nvSpPr>
        <p:spPr>
          <a:xfrm>
            <a:off x="4479290" y="146050"/>
            <a:ext cx="3234055" cy="645160"/>
          </a:xfrm>
          <a:prstGeom prst="rect">
            <a:avLst/>
          </a:prstGeom>
          <a:noFill/>
        </p:spPr>
        <p:txBody>
          <a:bodyPr wrap="square" lIns="91440" tIns="45720" rIns="91440" bIns="45720" rtlCol="0" anchor="t">
            <a:spAutoFit/>
          </a:bodyPr>
          <a:lstStyle/>
          <a:p>
            <a:pPr algn="ctr"/>
            <a:r>
              <a:rPr lang="en-US" altLang="en-US" b="1" i="1" dirty="0">
                <a:latin typeface="FreeSerif" panose="02020603050405020304"/>
              </a:rPr>
              <a:t>Inductive Bias &amp; Self-Coordinating Networks</a:t>
            </a:r>
          </a:p>
        </p:txBody>
      </p:sp>
      <p:sp>
        <p:nvSpPr>
          <p:cNvPr id="50" name="Text Box 49"/>
          <p:cNvSpPr txBox="1"/>
          <p:nvPr/>
        </p:nvSpPr>
        <p:spPr>
          <a:xfrm>
            <a:off x="1069975" y="1160145"/>
            <a:ext cx="1785620" cy="521970"/>
          </a:xfrm>
          <a:prstGeom prst="rect">
            <a:avLst/>
          </a:prstGeom>
          <a:solidFill>
            <a:schemeClr val="tx1"/>
          </a:solidFill>
        </p:spPr>
        <p:txBody>
          <a:bodyPr wrap="square" rtlCol="0">
            <a:spAutoFit/>
          </a:bodyPr>
          <a:lstStyle/>
          <a:p>
            <a:pPr algn="ctr"/>
            <a:r>
              <a:rPr lang="en-US" altLang="en-US" sz="1400">
                <a:solidFill>
                  <a:schemeClr val="bg1"/>
                </a:solidFill>
                <a:latin typeface="FreeSerif" panose="02020603050405020304" charset="0"/>
                <a:cs typeface="FreeSerif" panose="02020603050405020304" charset="0"/>
              </a:rPr>
              <a:t>Dense and Feed-forward Style</a:t>
            </a:r>
          </a:p>
        </p:txBody>
      </p:sp>
      <p:sp>
        <p:nvSpPr>
          <p:cNvPr id="4" name="Oval 3"/>
          <p:cNvSpPr/>
          <p:nvPr/>
        </p:nvSpPr>
        <p:spPr>
          <a:xfrm>
            <a:off x="1871980" y="5244465"/>
            <a:ext cx="180975" cy="200660"/>
          </a:xfrm>
          <a:prstGeom prst="ellipse">
            <a:avLst/>
          </a:prstGeom>
          <a:solidFill>
            <a:schemeClr val="tx1"/>
          </a:solid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p:cNvSpPr/>
          <p:nvPr/>
        </p:nvSpPr>
        <p:spPr>
          <a:xfrm>
            <a:off x="1871980" y="5803265"/>
            <a:ext cx="180975" cy="200660"/>
          </a:xfrm>
          <a:prstGeom prst="ellipse">
            <a:avLst/>
          </a:prstGeom>
          <a:solidFill>
            <a:schemeClr val="tx1"/>
          </a:solid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2353945" y="5244465"/>
            <a:ext cx="180975" cy="200660"/>
          </a:xfrm>
          <a:prstGeom prst="ellipse">
            <a:avLst/>
          </a:prstGeom>
          <a:solidFill>
            <a:schemeClr val="tx1"/>
          </a:solid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2172970" y="5602605"/>
            <a:ext cx="180975" cy="200660"/>
          </a:xfrm>
          <a:prstGeom prst="ellipse">
            <a:avLst/>
          </a:prstGeom>
          <a:solidFill>
            <a:schemeClr val="tx1"/>
          </a:solid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1517650" y="5602605"/>
            <a:ext cx="180975" cy="200660"/>
          </a:xfrm>
          <a:prstGeom prst="ellipse">
            <a:avLst/>
          </a:prstGeom>
          <a:solidFill>
            <a:schemeClr val="tx1"/>
          </a:solid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1336675" y="5244465"/>
            <a:ext cx="180975" cy="200660"/>
          </a:xfrm>
          <a:prstGeom prst="ellipse">
            <a:avLst/>
          </a:prstGeom>
          <a:solidFill>
            <a:schemeClr val="tx1"/>
          </a:solid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1871980" y="4707890"/>
            <a:ext cx="180975" cy="200660"/>
          </a:xfrm>
          <a:prstGeom prst="ellipse">
            <a:avLst/>
          </a:prstGeom>
          <a:solidFill>
            <a:schemeClr val="tx1"/>
          </a:solid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1517650" y="4908550"/>
            <a:ext cx="180975" cy="200660"/>
          </a:xfrm>
          <a:prstGeom prst="ellipse">
            <a:avLst/>
          </a:prstGeom>
          <a:solidFill>
            <a:schemeClr val="tx1"/>
          </a:solid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2172970" y="4908550"/>
            <a:ext cx="180975" cy="200660"/>
          </a:xfrm>
          <a:prstGeom prst="ellipse">
            <a:avLst/>
          </a:prstGeom>
          <a:solidFill>
            <a:schemeClr val="tx1"/>
          </a:solid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1393190" y="2420620"/>
            <a:ext cx="180975" cy="200660"/>
          </a:xfrm>
          <a:prstGeom prst="ellipse">
            <a:avLst/>
          </a:prstGeom>
          <a:solidFill>
            <a:schemeClr val="tx1"/>
          </a:solid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1393190" y="2979420"/>
            <a:ext cx="180975" cy="200660"/>
          </a:xfrm>
          <a:prstGeom prst="ellipse">
            <a:avLst/>
          </a:prstGeom>
          <a:solidFill>
            <a:schemeClr val="tx1"/>
          </a:solid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1875155" y="2420620"/>
            <a:ext cx="180975" cy="200660"/>
          </a:xfrm>
          <a:prstGeom prst="ellipse">
            <a:avLst/>
          </a:prstGeom>
          <a:solidFill>
            <a:schemeClr val="tx1"/>
          </a:solid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a:off x="1383665" y="2700020"/>
            <a:ext cx="180975" cy="200660"/>
          </a:xfrm>
          <a:prstGeom prst="ellipse">
            <a:avLst/>
          </a:prstGeom>
          <a:solidFill>
            <a:schemeClr val="tx1"/>
          </a:solid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1393190" y="1884045"/>
            <a:ext cx="180975" cy="200660"/>
          </a:xfrm>
          <a:prstGeom prst="ellipse">
            <a:avLst/>
          </a:prstGeom>
          <a:solidFill>
            <a:schemeClr val="tx1"/>
          </a:solid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p:cNvSpPr/>
          <p:nvPr/>
        </p:nvSpPr>
        <p:spPr>
          <a:xfrm>
            <a:off x="1383665" y="2152015"/>
            <a:ext cx="180975" cy="200660"/>
          </a:xfrm>
          <a:prstGeom prst="ellipse">
            <a:avLst/>
          </a:prstGeom>
          <a:solidFill>
            <a:schemeClr val="tx1"/>
          </a:solidFill>
          <a:ln w="28575"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Connector 22"/>
          <p:cNvCxnSpPr>
            <a:stCxn id="15" idx="6"/>
            <a:endCxn id="16" idx="2"/>
          </p:cNvCxnSpPr>
          <p:nvPr/>
        </p:nvCxnSpPr>
        <p:spPr>
          <a:xfrm flipV="1">
            <a:off x="1583690" y="2520950"/>
            <a:ext cx="300990" cy="5588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a:stCxn id="18" idx="6"/>
            <a:endCxn id="16" idx="2"/>
          </p:cNvCxnSpPr>
          <p:nvPr/>
        </p:nvCxnSpPr>
        <p:spPr>
          <a:xfrm flipV="1">
            <a:off x="1574165" y="2520950"/>
            <a:ext cx="310515" cy="279400"/>
          </a:xfrm>
          <a:prstGeom prst="line">
            <a:avLst/>
          </a:prstGeom>
        </p:spPr>
        <p:style>
          <a:lnRef idx="1">
            <a:schemeClr val="dk1"/>
          </a:lnRef>
          <a:fillRef idx="0">
            <a:schemeClr val="dk1"/>
          </a:fillRef>
          <a:effectRef idx="0">
            <a:schemeClr val="dk1"/>
          </a:effectRef>
          <a:fontRef idx="minor">
            <a:schemeClr val="tx1"/>
          </a:fontRef>
        </p:style>
      </p:cxnSp>
      <p:cxnSp>
        <p:nvCxnSpPr>
          <p:cNvPr id="25" name="Straight Connector 24"/>
          <p:cNvCxnSpPr>
            <a:stCxn id="14" idx="6"/>
            <a:endCxn id="16" idx="2"/>
          </p:cNvCxnSpPr>
          <p:nvPr/>
        </p:nvCxnSpPr>
        <p:spPr>
          <a:xfrm>
            <a:off x="1583690" y="2520950"/>
            <a:ext cx="3009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a:stCxn id="21" idx="6"/>
            <a:endCxn id="16" idx="2"/>
          </p:cNvCxnSpPr>
          <p:nvPr/>
        </p:nvCxnSpPr>
        <p:spPr>
          <a:xfrm>
            <a:off x="1574165" y="2252345"/>
            <a:ext cx="310515" cy="26860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a:stCxn id="20" idx="6"/>
            <a:endCxn id="16" idx="3"/>
          </p:cNvCxnSpPr>
          <p:nvPr/>
        </p:nvCxnSpPr>
        <p:spPr>
          <a:xfrm>
            <a:off x="1583690" y="1984375"/>
            <a:ext cx="327660" cy="60769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Oval 27"/>
          <p:cNvSpPr/>
          <p:nvPr/>
        </p:nvSpPr>
        <p:spPr>
          <a:xfrm>
            <a:off x="1875155" y="2700020"/>
            <a:ext cx="180975" cy="200660"/>
          </a:xfrm>
          <a:prstGeom prst="ellipse">
            <a:avLst/>
          </a:prstGeom>
          <a:solidFill>
            <a:schemeClr val="bg1"/>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1875155" y="2979420"/>
            <a:ext cx="180975" cy="200660"/>
          </a:xfrm>
          <a:prstGeom prst="ellipse">
            <a:avLst/>
          </a:prstGeom>
          <a:solidFill>
            <a:schemeClr val="bg1"/>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p:nvPr/>
        </p:nvSpPr>
        <p:spPr>
          <a:xfrm>
            <a:off x="1875155" y="2152015"/>
            <a:ext cx="180975" cy="200660"/>
          </a:xfrm>
          <a:prstGeom prst="ellipse">
            <a:avLst/>
          </a:prstGeom>
          <a:noFill/>
          <a:ln w="28575" cmpd="sng">
            <a:solidFill>
              <a:schemeClr val="tx1"/>
            </a:solidFill>
            <a:prstDash val="solid"/>
          </a:ln>
          <a:extLst>
            <a:ext uri="{909E8E84-426E-40DD-AFC4-6F175D3DCCD1}">
              <a14:hiddenFill xmlns:a14="http://schemas.microsoft.com/office/drawing/2010/main">
                <a:solidFill>
                  <a:schemeClr val="tx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p:cNvSpPr/>
          <p:nvPr/>
        </p:nvSpPr>
        <p:spPr>
          <a:xfrm>
            <a:off x="1875155" y="1884045"/>
            <a:ext cx="180975" cy="200660"/>
          </a:xfrm>
          <a:prstGeom prst="ellipse">
            <a:avLst/>
          </a:prstGeom>
          <a:solidFill>
            <a:schemeClr val="bg1"/>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p:cNvSpPr/>
          <p:nvPr/>
        </p:nvSpPr>
        <p:spPr>
          <a:xfrm>
            <a:off x="2334260" y="2700020"/>
            <a:ext cx="180975" cy="200660"/>
          </a:xfrm>
          <a:prstGeom prst="ellipse">
            <a:avLst/>
          </a:prstGeom>
          <a:solidFill>
            <a:schemeClr val="bg1"/>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p:cNvSpPr/>
          <p:nvPr/>
        </p:nvSpPr>
        <p:spPr>
          <a:xfrm>
            <a:off x="2334260" y="2979420"/>
            <a:ext cx="180975" cy="200660"/>
          </a:xfrm>
          <a:prstGeom prst="ellipse">
            <a:avLst/>
          </a:prstGeom>
          <a:solidFill>
            <a:schemeClr val="bg1"/>
          </a:solidFill>
          <a:ln w="28575" cmpd="sng">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p:cNvSpPr/>
          <p:nvPr/>
        </p:nvSpPr>
        <p:spPr>
          <a:xfrm>
            <a:off x="2334260" y="2152015"/>
            <a:ext cx="180975" cy="200660"/>
          </a:xfrm>
          <a:prstGeom prst="ellipse">
            <a:avLst/>
          </a:prstGeom>
          <a:noFill/>
          <a:ln w="28575" cmpd="sng">
            <a:solidFill>
              <a:schemeClr val="tx1"/>
            </a:solidFill>
            <a:prstDash val="solid"/>
          </a:ln>
          <a:extLst>
            <a:ext uri="{909E8E84-426E-40DD-AFC4-6F175D3DCCD1}">
              <a14:hiddenFill xmlns:a14="http://schemas.microsoft.com/office/drawing/2010/main">
                <a:solidFill>
                  <a:schemeClr val="tx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p:cNvSpPr/>
          <p:nvPr/>
        </p:nvSpPr>
        <p:spPr>
          <a:xfrm>
            <a:off x="2334260" y="1884045"/>
            <a:ext cx="180975" cy="200660"/>
          </a:xfrm>
          <a:prstGeom prst="ellipse">
            <a:avLst/>
          </a:prstGeom>
          <a:noFill/>
          <a:ln w="28575" cmpd="sng">
            <a:solidFill>
              <a:schemeClr val="tx1"/>
            </a:solidFill>
            <a:prstDash val="solid"/>
          </a:ln>
          <a:extLst>
            <a:ext uri="{909E8E84-426E-40DD-AFC4-6F175D3DCCD1}">
              <a14:hiddenFill xmlns:a14="http://schemas.microsoft.com/office/drawing/2010/main">
                <a:solidFill>
                  <a:schemeClr val="tx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p:cNvSpPr/>
          <p:nvPr/>
        </p:nvSpPr>
        <p:spPr>
          <a:xfrm>
            <a:off x="2334260" y="2420620"/>
            <a:ext cx="180975" cy="200660"/>
          </a:xfrm>
          <a:prstGeom prst="ellipse">
            <a:avLst/>
          </a:prstGeom>
          <a:noFill/>
          <a:ln w="28575" cmpd="sng">
            <a:solidFill>
              <a:schemeClr val="tx1"/>
            </a:solidFill>
            <a:prstDash val="solid"/>
          </a:ln>
          <a:extLst>
            <a:ext uri="{909E8E84-426E-40DD-AFC4-6F175D3DCCD1}">
              <a14:hiddenFill xmlns:a14="http://schemas.microsoft.com/office/drawing/2010/main">
                <a:solidFill>
                  <a:schemeClr val="tx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 Box 36"/>
          <p:cNvSpPr txBox="1"/>
          <p:nvPr/>
        </p:nvSpPr>
        <p:spPr>
          <a:xfrm>
            <a:off x="1069340" y="3950970"/>
            <a:ext cx="1785620" cy="521970"/>
          </a:xfrm>
          <a:prstGeom prst="rect">
            <a:avLst/>
          </a:prstGeom>
          <a:solidFill>
            <a:schemeClr val="tx1"/>
          </a:solidFill>
        </p:spPr>
        <p:txBody>
          <a:bodyPr wrap="square" rtlCol="0">
            <a:spAutoFit/>
          </a:bodyPr>
          <a:lstStyle/>
          <a:p>
            <a:pPr algn="ctr"/>
            <a:r>
              <a:rPr lang="en-US" altLang="en-US" sz="1400">
                <a:solidFill>
                  <a:schemeClr val="bg1"/>
                </a:solidFill>
                <a:latin typeface="FreeSerif" panose="02020603050405020304" charset="0"/>
                <a:cs typeface="FreeSerif" panose="02020603050405020304" charset="0"/>
              </a:rPr>
              <a:t>Self-Organizing Networks</a:t>
            </a:r>
          </a:p>
        </p:txBody>
      </p:sp>
      <p:cxnSp>
        <p:nvCxnSpPr>
          <p:cNvPr id="38" name="Straight Connector 37"/>
          <p:cNvCxnSpPr>
            <a:stCxn id="4" idx="0"/>
            <a:endCxn id="11" idx="4"/>
          </p:cNvCxnSpPr>
          <p:nvPr/>
        </p:nvCxnSpPr>
        <p:spPr>
          <a:xfrm flipV="1">
            <a:off x="1962785" y="4908550"/>
            <a:ext cx="0" cy="335915"/>
          </a:xfrm>
          <a:prstGeom prst="line">
            <a:avLst/>
          </a:prstGeom>
        </p:spPr>
        <p:style>
          <a:lnRef idx="1">
            <a:schemeClr val="dk1"/>
          </a:lnRef>
          <a:fillRef idx="0">
            <a:schemeClr val="dk1"/>
          </a:fillRef>
          <a:effectRef idx="0">
            <a:schemeClr val="dk1"/>
          </a:effectRef>
          <a:fontRef idx="minor">
            <a:schemeClr val="tx1"/>
          </a:fontRef>
        </p:style>
      </p:cxnSp>
      <p:cxnSp>
        <p:nvCxnSpPr>
          <p:cNvPr id="39" name="Straight Connector 38"/>
          <p:cNvCxnSpPr>
            <a:stCxn id="4" idx="7"/>
            <a:endCxn id="13" idx="3"/>
          </p:cNvCxnSpPr>
          <p:nvPr/>
        </p:nvCxnSpPr>
        <p:spPr>
          <a:xfrm flipV="1">
            <a:off x="2026285" y="5080000"/>
            <a:ext cx="173355" cy="1936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a:stCxn id="4" idx="3"/>
            <a:endCxn id="9" idx="7"/>
          </p:cNvCxnSpPr>
          <p:nvPr/>
        </p:nvCxnSpPr>
        <p:spPr>
          <a:xfrm flipH="1">
            <a:off x="1671955" y="5415915"/>
            <a:ext cx="226695" cy="215900"/>
          </a:xfrm>
          <a:prstGeom prst="line">
            <a:avLst/>
          </a:prstGeom>
        </p:spPr>
        <p:style>
          <a:lnRef idx="1">
            <a:schemeClr val="dk1"/>
          </a:lnRef>
          <a:fillRef idx="0">
            <a:schemeClr val="dk1"/>
          </a:fillRef>
          <a:effectRef idx="0">
            <a:schemeClr val="dk1"/>
          </a:effectRef>
          <a:fontRef idx="minor">
            <a:schemeClr val="tx1"/>
          </a:fontRef>
        </p:style>
      </p:cxnSp>
      <p:cxnSp>
        <p:nvCxnSpPr>
          <p:cNvPr id="41" name="Straight Connector 40"/>
          <p:cNvCxnSpPr>
            <a:stCxn id="4" idx="4"/>
            <a:endCxn id="5" idx="0"/>
          </p:cNvCxnSpPr>
          <p:nvPr/>
        </p:nvCxnSpPr>
        <p:spPr>
          <a:xfrm>
            <a:off x="1962785" y="5445125"/>
            <a:ext cx="0" cy="35814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a:stCxn id="4" idx="6"/>
            <a:endCxn id="6" idx="2"/>
          </p:cNvCxnSpPr>
          <p:nvPr/>
        </p:nvCxnSpPr>
        <p:spPr>
          <a:xfrm>
            <a:off x="2052955" y="5344795"/>
            <a:ext cx="300990" cy="0"/>
          </a:xfrm>
          <a:prstGeom prst="line">
            <a:avLst/>
          </a:prstGeom>
        </p:spPr>
        <p:style>
          <a:lnRef idx="1">
            <a:schemeClr val="dk1"/>
          </a:lnRef>
          <a:fillRef idx="0">
            <a:schemeClr val="dk1"/>
          </a:fillRef>
          <a:effectRef idx="0">
            <a:schemeClr val="dk1"/>
          </a:effectRef>
          <a:fontRef idx="minor">
            <a:schemeClr val="tx1"/>
          </a:fontRef>
        </p:style>
      </p:cxnSp>
      <p:cxnSp>
        <p:nvCxnSpPr>
          <p:cNvPr id="43" name="Straight Connector 42"/>
          <p:cNvCxnSpPr>
            <a:stCxn id="4" idx="5"/>
            <a:endCxn id="8" idx="1"/>
          </p:cNvCxnSpPr>
          <p:nvPr/>
        </p:nvCxnSpPr>
        <p:spPr>
          <a:xfrm>
            <a:off x="2026285" y="5415915"/>
            <a:ext cx="173355" cy="2159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a:stCxn id="4" idx="1"/>
            <a:endCxn id="12" idx="5"/>
          </p:cNvCxnSpPr>
          <p:nvPr/>
        </p:nvCxnSpPr>
        <p:spPr>
          <a:xfrm flipH="1" flipV="1">
            <a:off x="1671955" y="5080000"/>
            <a:ext cx="226695" cy="1936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a:stCxn id="10" idx="6"/>
            <a:endCxn id="4" idx="2"/>
          </p:cNvCxnSpPr>
          <p:nvPr/>
        </p:nvCxnSpPr>
        <p:spPr>
          <a:xfrm>
            <a:off x="1517650" y="5344795"/>
            <a:ext cx="35433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3334385" y="791210"/>
            <a:ext cx="10160" cy="5659755"/>
          </a:xfrm>
          <a:prstGeom prst="line">
            <a:avLst/>
          </a:prstGeom>
          <a:ln>
            <a:solidFill>
              <a:schemeClr val="tx1"/>
            </a:solidFill>
            <a:prstDash val="lgDashDotDot"/>
          </a:ln>
        </p:spPr>
        <p:style>
          <a:lnRef idx="1">
            <a:schemeClr val="accent1"/>
          </a:lnRef>
          <a:fillRef idx="0">
            <a:schemeClr val="accent1"/>
          </a:fillRef>
          <a:effectRef idx="0">
            <a:schemeClr val="accent1"/>
          </a:effectRef>
          <a:fontRef idx="minor">
            <a:schemeClr val="tx1"/>
          </a:fontRef>
        </p:style>
      </p:cxnSp>
      <p:pic>
        <p:nvPicPr>
          <p:cNvPr id="46" name="Picture 45"/>
          <p:cNvPicPr>
            <a:picLocks noChangeAspect="1"/>
          </p:cNvPicPr>
          <p:nvPr/>
        </p:nvPicPr>
        <p:blipFill>
          <a:blip r:embed="rId2"/>
          <a:stretch>
            <a:fillRect/>
          </a:stretch>
        </p:blipFill>
        <p:spPr>
          <a:xfrm>
            <a:off x="3344545" y="1301115"/>
            <a:ext cx="2827020" cy="513080"/>
          </a:xfrm>
          <a:prstGeom prst="rect">
            <a:avLst/>
          </a:prstGeom>
        </p:spPr>
      </p:pic>
      <p:pic>
        <p:nvPicPr>
          <p:cNvPr id="48" name="Picture 47"/>
          <p:cNvPicPr>
            <a:picLocks noChangeAspect="1"/>
          </p:cNvPicPr>
          <p:nvPr/>
        </p:nvPicPr>
        <p:blipFill>
          <a:blip r:embed="rId3"/>
          <a:stretch>
            <a:fillRect/>
          </a:stretch>
        </p:blipFill>
        <p:spPr>
          <a:xfrm>
            <a:off x="3361963" y="4571365"/>
            <a:ext cx="6926580" cy="2289175"/>
          </a:xfrm>
          <a:prstGeom prst="rect">
            <a:avLst/>
          </a:prstGeom>
        </p:spPr>
      </p:pic>
      <p:sp>
        <p:nvSpPr>
          <p:cNvPr id="52" name="Text Box 51"/>
          <p:cNvSpPr txBox="1"/>
          <p:nvPr/>
        </p:nvSpPr>
        <p:spPr>
          <a:xfrm>
            <a:off x="3344545" y="779145"/>
            <a:ext cx="2287270" cy="521970"/>
          </a:xfrm>
          <a:prstGeom prst="rect">
            <a:avLst/>
          </a:prstGeom>
          <a:solidFill>
            <a:schemeClr val="tx1"/>
          </a:solidFill>
        </p:spPr>
        <p:txBody>
          <a:bodyPr wrap="square" rtlCol="0">
            <a:spAutoFit/>
          </a:bodyPr>
          <a:lstStyle/>
          <a:p>
            <a:pPr algn="l"/>
            <a:r>
              <a:rPr lang="en-US" altLang="en-US" sz="1400">
                <a:solidFill>
                  <a:schemeClr val="bg1"/>
                </a:solidFill>
                <a:latin typeface="FreeSerif" panose="02020603050405020304" charset="0"/>
                <a:cs typeface="FreeSerif" panose="02020603050405020304" charset="0"/>
              </a:rPr>
              <a:t>Biological &amp; Physics Inspired Optimization</a:t>
            </a:r>
          </a:p>
        </p:txBody>
      </p:sp>
      <p:sp>
        <p:nvSpPr>
          <p:cNvPr id="49" name="Text Box 48"/>
          <p:cNvSpPr txBox="1"/>
          <p:nvPr/>
        </p:nvSpPr>
        <p:spPr>
          <a:xfrm>
            <a:off x="3344545" y="4360545"/>
            <a:ext cx="2287270" cy="306705"/>
          </a:xfrm>
          <a:prstGeom prst="rect">
            <a:avLst/>
          </a:prstGeom>
          <a:solidFill>
            <a:schemeClr val="tx1"/>
          </a:solidFill>
        </p:spPr>
        <p:txBody>
          <a:bodyPr wrap="square" rtlCol="0">
            <a:spAutoFit/>
          </a:bodyPr>
          <a:lstStyle/>
          <a:p>
            <a:pPr algn="l"/>
            <a:r>
              <a:rPr lang="en-US" altLang="en-US" sz="1400">
                <a:solidFill>
                  <a:schemeClr val="bg1"/>
                </a:solidFill>
                <a:latin typeface="FreeSerif" panose="02020603050405020304" charset="0"/>
                <a:cs typeface="FreeSerif" panose="02020603050405020304" charset="0"/>
              </a:rPr>
              <a:t>pRNNs</a:t>
            </a:r>
          </a:p>
        </p:txBody>
      </p:sp>
      <p:pic>
        <p:nvPicPr>
          <p:cNvPr id="53" name="Picture 52"/>
          <p:cNvPicPr>
            <a:picLocks noChangeAspect="1"/>
          </p:cNvPicPr>
          <p:nvPr/>
        </p:nvPicPr>
        <p:blipFill>
          <a:blip r:embed="rId4"/>
          <a:stretch>
            <a:fillRect/>
          </a:stretch>
        </p:blipFill>
        <p:spPr>
          <a:xfrm>
            <a:off x="3426460" y="2252345"/>
            <a:ext cx="2124075" cy="1920240"/>
          </a:xfrm>
          <a:prstGeom prst="rect">
            <a:avLst/>
          </a:prstGeom>
        </p:spPr>
      </p:pic>
      <p:pic>
        <p:nvPicPr>
          <p:cNvPr id="54" name="Picture 53"/>
          <p:cNvPicPr>
            <a:picLocks noChangeAspect="1"/>
          </p:cNvPicPr>
          <p:nvPr/>
        </p:nvPicPr>
        <p:blipFill>
          <a:blip r:embed="rId5"/>
          <a:stretch>
            <a:fillRect/>
          </a:stretch>
        </p:blipFill>
        <p:spPr>
          <a:xfrm>
            <a:off x="5810885" y="2252345"/>
            <a:ext cx="2159000" cy="1951990"/>
          </a:xfrm>
          <a:prstGeom prst="rect">
            <a:avLst/>
          </a:prstGeom>
        </p:spPr>
      </p:pic>
      <p:sp>
        <p:nvSpPr>
          <p:cNvPr id="55" name="Text Box 54"/>
          <p:cNvSpPr txBox="1"/>
          <p:nvPr/>
        </p:nvSpPr>
        <p:spPr>
          <a:xfrm>
            <a:off x="4041458" y="1974215"/>
            <a:ext cx="893445" cy="275590"/>
          </a:xfrm>
          <a:prstGeom prst="rect">
            <a:avLst/>
          </a:prstGeom>
          <a:noFill/>
        </p:spPr>
        <p:txBody>
          <a:bodyPr wrap="none" rtlCol="0">
            <a:spAutoFit/>
          </a:bodyPr>
          <a:lstStyle/>
          <a:p>
            <a:pPr algn="ctr"/>
            <a:r>
              <a:rPr lang="en-US" altLang="en-US" sz="1200" b="1" i="1">
                <a:latin typeface="FreeSerif" panose="02020603050405020304" charset="0"/>
                <a:cs typeface="FreeSerif" panose="02020603050405020304" charset="0"/>
              </a:rPr>
              <a:t>Static Node</a:t>
            </a:r>
          </a:p>
        </p:txBody>
      </p:sp>
      <p:sp>
        <p:nvSpPr>
          <p:cNvPr id="56" name="Text Box 55"/>
          <p:cNvSpPr txBox="1"/>
          <p:nvPr/>
        </p:nvSpPr>
        <p:spPr>
          <a:xfrm>
            <a:off x="6343015" y="1974215"/>
            <a:ext cx="1094740" cy="275590"/>
          </a:xfrm>
          <a:prstGeom prst="rect">
            <a:avLst/>
          </a:prstGeom>
          <a:noFill/>
        </p:spPr>
        <p:txBody>
          <a:bodyPr wrap="none" rtlCol="0">
            <a:spAutoFit/>
          </a:bodyPr>
          <a:lstStyle/>
          <a:p>
            <a:pPr algn="ctr"/>
            <a:r>
              <a:rPr lang="en-US" altLang="en-US" sz="1200" b="1" i="1">
                <a:latin typeface="FreeSerif" panose="02020603050405020304" charset="0"/>
                <a:cs typeface="FreeSerif" panose="02020603050405020304" charset="0"/>
              </a:rPr>
              <a:t>Adaptive Node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6"/>
          <p:cNvSpPr txBox="1"/>
          <p:nvPr/>
        </p:nvSpPr>
        <p:spPr>
          <a:xfrm>
            <a:off x="4479290" y="146050"/>
            <a:ext cx="3234055" cy="645160"/>
          </a:xfrm>
          <a:prstGeom prst="rect">
            <a:avLst/>
          </a:prstGeom>
          <a:noFill/>
        </p:spPr>
        <p:txBody>
          <a:bodyPr wrap="square" lIns="91440" tIns="45720" rIns="91440" bIns="45720" rtlCol="0" anchor="t">
            <a:spAutoFit/>
          </a:bodyPr>
          <a:lstStyle/>
          <a:p>
            <a:pPr algn="ctr"/>
            <a:r>
              <a:rPr lang="en-US" altLang="en-US" b="1" i="1" dirty="0">
                <a:latin typeface="FreeSerif" panose="02020603050405020304"/>
              </a:rPr>
              <a:t>Inductive Bias &amp; Self-Coordinating Networks</a:t>
            </a:r>
          </a:p>
        </p:txBody>
      </p:sp>
      <p:pic>
        <p:nvPicPr>
          <p:cNvPr id="2" name="Picture 1"/>
          <p:cNvPicPr>
            <a:picLocks noChangeAspect="1"/>
          </p:cNvPicPr>
          <p:nvPr/>
        </p:nvPicPr>
        <p:blipFill>
          <a:blip r:embed="rId2"/>
          <a:stretch>
            <a:fillRect/>
          </a:stretch>
        </p:blipFill>
        <p:spPr>
          <a:xfrm>
            <a:off x="876300" y="779780"/>
            <a:ext cx="4672965" cy="2931160"/>
          </a:xfrm>
          <a:prstGeom prst="rect">
            <a:avLst/>
          </a:prstGeom>
        </p:spPr>
      </p:pic>
      <p:pic>
        <p:nvPicPr>
          <p:cNvPr id="17" name="Picture 16"/>
          <p:cNvPicPr>
            <a:picLocks noChangeAspect="1"/>
          </p:cNvPicPr>
          <p:nvPr/>
        </p:nvPicPr>
        <p:blipFill>
          <a:blip r:embed="rId3"/>
          <a:stretch>
            <a:fillRect/>
          </a:stretch>
        </p:blipFill>
        <p:spPr>
          <a:xfrm>
            <a:off x="5549265" y="720725"/>
            <a:ext cx="6629400" cy="3049270"/>
          </a:xfrm>
          <a:prstGeom prst="rect">
            <a:avLst/>
          </a:prstGeom>
        </p:spPr>
      </p:pic>
      <p:sp>
        <p:nvSpPr>
          <p:cNvPr id="19" name="Text Box 18"/>
          <p:cNvSpPr txBox="1"/>
          <p:nvPr/>
        </p:nvSpPr>
        <p:spPr>
          <a:xfrm rot="16200000">
            <a:off x="-734695" y="2012950"/>
            <a:ext cx="1785620" cy="306705"/>
          </a:xfrm>
          <a:prstGeom prst="rect">
            <a:avLst/>
          </a:prstGeom>
          <a:solidFill>
            <a:schemeClr val="tx1"/>
          </a:solidFill>
        </p:spPr>
        <p:txBody>
          <a:bodyPr wrap="square" rtlCol="0">
            <a:spAutoFit/>
          </a:bodyPr>
          <a:lstStyle/>
          <a:p>
            <a:pPr algn="ctr"/>
            <a:r>
              <a:rPr lang="en-US" altLang="en-US" sz="1400">
                <a:solidFill>
                  <a:schemeClr val="bg1"/>
                </a:solidFill>
                <a:latin typeface="FreeSerif" panose="02020603050405020304" charset="0"/>
                <a:cs typeface="FreeSerif" panose="02020603050405020304" charset="0"/>
              </a:rPr>
              <a:t>GaTaP</a:t>
            </a:r>
          </a:p>
        </p:txBody>
      </p:sp>
      <p:cxnSp>
        <p:nvCxnSpPr>
          <p:cNvPr id="22" name="Straight Connector 21"/>
          <p:cNvCxnSpPr/>
          <p:nvPr/>
        </p:nvCxnSpPr>
        <p:spPr>
          <a:xfrm flipH="1">
            <a:off x="50800" y="3716020"/>
            <a:ext cx="12122150" cy="10160"/>
          </a:xfrm>
          <a:prstGeom prst="line">
            <a:avLst/>
          </a:prstGeom>
          <a:ln>
            <a:solidFill>
              <a:schemeClr val="tx1"/>
            </a:solidFill>
            <a:prstDash val="lgDashDotDot"/>
          </a:ln>
        </p:spPr>
        <p:style>
          <a:lnRef idx="1">
            <a:schemeClr val="accent1"/>
          </a:lnRef>
          <a:fillRef idx="0">
            <a:schemeClr val="accent1"/>
          </a:fillRef>
          <a:effectRef idx="0">
            <a:schemeClr val="accent1"/>
          </a:effectRef>
          <a:fontRef idx="minor">
            <a:schemeClr val="tx1"/>
          </a:fontRef>
        </p:style>
      </p:cxnSp>
      <p:pic>
        <p:nvPicPr>
          <p:cNvPr id="51" name="Picture 50"/>
          <p:cNvPicPr>
            <a:picLocks noChangeAspect="1"/>
          </p:cNvPicPr>
          <p:nvPr/>
        </p:nvPicPr>
        <p:blipFill>
          <a:blip r:embed="rId4"/>
          <a:stretch>
            <a:fillRect/>
          </a:stretch>
        </p:blipFill>
        <p:spPr>
          <a:xfrm>
            <a:off x="1026795" y="3980180"/>
            <a:ext cx="4723765" cy="2127250"/>
          </a:xfrm>
          <a:prstGeom prst="rect">
            <a:avLst/>
          </a:prstGeom>
        </p:spPr>
      </p:pic>
      <p:pic>
        <p:nvPicPr>
          <p:cNvPr id="57" name="Picture 56"/>
          <p:cNvPicPr>
            <a:picLocks noChangeAspect="1"/>
          </p:cNvPicPr>
          <p:nvPr/>
        </p:nvPicPr>
        <p:blipFill>
          <a:blip r:embed="rId5"/>
          <a:stretch>
            <a:fillRect/>
          </a:stretch>
        </p:blipFill>
        <p:spPr>
          <a:xfrm>
            <a:off x="6293485" y="3733109"/>
            <a:ext cx="5079909" cy="1844730"/>
          </a:xfrm>
          <a:prstGeom prst="rect">
            <a:avLst/>
          </a:prstGeom>
        </p:spPr>
      </p:pic>
      <p:pic>
        <p:nvPicPr>
          <p:cNvPr id="58" name="Picture 57"/>
          <p:cNvPicPr>
            <a:picLocks noChangeAspect="1"/>
          </p:cNvPicPr>
          <p:nvPr/>
        </p:nvPicPr>
        <p:blipFill>
          <a:blip r:embed="rId6"/>
          <a:stretch>
            <a:fillRect/>
          </a:stretch>
        </p:blipFill>
        <p:spPr>
          <a:xfrm>
            <a:off x="7019109" y="5516143"/>
            <a:ext cx="3790496" cy="1333601"/>
          </a:xfrm>
          <a:prstGeom prst="rect">
            <a:avLst/>
          </a:prstGeom>
        </p:spPr>
      </p:pic>
      <p:sp>
        <p:nvSpPr>
          <p:cNvPr id="59" name="Text Box 58"/>
          <p:cNvSpPr txBox="1"/>
          <p:nvPr/>
        </p:nvSpPr>
        <p:spPr>
          <a:xfrm rot="16200000">
            <a:off x="-734695" y="4890135"/>
            <a:ext cx="1785620" cy="306705"/>
          </a:xfrm>
          <a:prstGeom prst="rect">
            <a:avLst/>
          </a:prstGeom>
          <a:solidFill>
            <a:schemeClr val="tx1"/>
          </a:solidFill>
        </p:spPr>
        <p:txBody>
          <a:bodyPr wrap="square" rtlCol="0">
            <a:spAutoFit/>
          </a:bodyPr>
          <a:lstStyle/>
          <a:p>
            <a:pPr algn="ctr"/>
            <a:r>
              <a:rPr lang="en-US" altLang="en-US" sz="1400">
                <a:solidFill>
                  <a:schemeClr val="bg1"/>
                </a:solidFill>
                <a:latin typeface="FreeSerif" panose="02020603050405020304" charset="0"/>
                <a:cs typeface="FreeSerif" panose="02020603050405020304" charset="0"/>
              </a:rPr>
              <a:t>NCAP</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6"/>
          <p:cNvSpPr txBox="1"/>
          <p:nvPr/>
        </p:nvSpPr>
        <p:spPr>
          <a:xfrm>
            <a:off x="4479290" y="146050"/>
            <a:ext cx="3234055" cy="368300"/>
          </a:xfrm>
          <a:prstGeom prst="rect">
            <a:avLst/>
          </a:prstGeom>
          <a:noFill/>
        </p:spPr>
        <p:txBody>
          <a:bodyPr wrap="square" lIns="91440" tIns="45720" rIns="91440" bIns="45720" rtlCol="0" anchor="t">
            <a:spAutoFit/>
          </a:bodyPr>
          <a:lstStyle/>
          <a:p>
            <a:pPr algn="ctr"/>
            <a:r>
              <a:rPr lang="en-US" altLang="en-US" b="1" i="1" dirty="0">
                <a:latin typeface="FreeSerif" panose="02020603050405020304"/>
              </a:rPr>
              <a:t>$1Million Research</a:t>
            </a:r>
          </a:p>
        </p:txBody>
      </p:sp>
      <p:grpSp>
        <p:nvGrpSpPr>
          <p:cNvPr id="42" name="Group 41"/>
          <p:cNvGrpSpPr/>
          <p:nvPr/>
        </p:nvGrpSpPr>
        <p:grpSpPr>
          <a:xfrm>
            <a:off x="200025" y="533400"/>
            <a:ext cx="3495675" cy="6263640"/>
            <a:chOff x="114" y="5791"/>
            <a:chExt cx="4700" cy="9864"/>
          </a:xfrm>
        </p:grpSpPr>
        <p:sp>
          <p:nvSpPr>
            <p:cNvPr id="43" name="TextBox 6"/>
            <p:cNvSpPr txBox="1"/>
            <p:nvPr/>
          </p:nvSpPr>
          <p:spPr>
            <a:xfrm>
              <a:off x="114" y="6787"/>
              <a:ext cx="4700" cy="8868"/>
            </a:xfrm>
            <a:prstGeom prst="rect">
              <a:avLst/>
            </a:prstGeom>
            <a:noFill/>
            <a:ln w="12700" cmpd="sng">
              <a:solidFill>
                <a:schemeClr val="tx1"/>
              </a:solidFill>
              <a:prstDash val="dashDot"/>
            </a:ln>
          </p:spPr>
          <p:txBody>
            <a:bodyPr rot="0" spcFirstLastPara="0" vertOverflow="overflow" horzOverflow="overflow" vert="horz" wrap="square" lIns="91440" tIns="45720" rIns="91440" bIns="45720" numCol="1" spcCol="0" rtlCol="0" fromWordArt="0" anchor="t" anchorCtr="0" forceAA="0" compatLnSpc="1">
              <a:spAutoFit/>
            </a:bodyPr>
            <a:lstStyle/>
            <a:p>
              <a:pPr marL="228600" indent="-228600" algn="l">
                <a:lnSpc>
                  <a:spcPct val="200000"/>
                </a:lnSpc>
                <a:buAutoNum type="arabicPeriod"/>
              </a:pPr>
              <a:r>
                <a:rPr lang="en-US" altLang="en-US" sz="1200" b="1" i="1">
                  <a:latin typeface="FreeSerif" panose="02020603050405020304"/>
                </a:rPr>
                <a:t>NCAP + GaTaP:</a:t>
              </a:r>
            </a:p>
            <a:p>
              <a:pPr marL="685800" lvl="1" indent="-228600" algn="l">
                <a:lnSpc>
                  <a:spcPct val="200000"/>
                </a:lnSpc>
                <a:buFont typeface="Arial" panose="020B0604020202020204" pitchFamily="34" charset="0"/>
                <a:buChar char="•"/>
              </a:pPr>
              <a:r>
                <a:rPr lang="en-US" altLang="en-US" sz="1200" i="1">
                  <a:latin typeface="FreeSerif" panose="02020603050405020304"/>
                </a:rPr>
                <a:t>Show NCAP-CPG provide</a:t>
              </a:r>
              <a:r>
                <a:rPr lang="en-US" altLang="en-US" sz="1200" b="1" i="1">
                  <a:latin typeface="FreeSerif" panose="02020603050405020304"/>
                </a:rPr>
                <a:t> natural gait</a:t>
              </a:r>
              <a:r>
                <a:rPr lang="en-US" altLang="en-US" sz="1200" i="1">
                  <a:latin typeface="FreeSerif" panose="02020603050405020304"/>
                </a:rPr>
                <a:t> with </a:t>
              </a:r>
              <a:r>
                <a:rPr lang="en-US" altLang="en-US" sz="1200" b="1" i="1">
                  <a:latin typeface="FreeSerif" panose="02020603050405020304"/>
                </a:rPr>
                <a:t>1000x parameter reduction</a:t>
              </a:r>
              <a:endParaRPr lang="en-US" altLang="en-US" sz="1200" i="1">
                <a:latin typeface="FreeSerif" panose="02020603050405020304"/>
              </a:endParaRPr>
            </a:p>
            <a:p>
              <a:pPr marL="685800" lvl="1" indent="-228600" algn="l">
                <a:lnSpc>
                  <a:spcPct val="200000"/>
                </a:lnSpc>
                <a:buFont typeface="Arial" panose="020B0604020202020204" pitchFamily="34" charset="0"/>
                <a:buChar char="•"/>
              </a:pPr>
              <a:r>
                <a:rPr lang="en-US" altLang="en-US" sz="1200" i="1">
                  <a:latin typeface="FreeSerif" panose="02020603050405020304"/>
                </a:rPr>
                <a:t>Show GaTaP enables </a:t>
              </a:r>
              <a:r>
                <a:rPr lang="en-US" altLang="en-US" sz="1200" b="1" i="1">
                  <a:latin typeface="FreeSerif" panose="02020603050405020304"/>
                </a:rPr>
                <a:t>few/zero-shot terrain switching</a:t>
              </a:r>
              <a:r>
                <a:rPr lang="en-US" altLang="en-US" sz="1200" i="1">
                  <a:latin typeface="FreeSerif" panose="02020603050405020304"/>
                </a:rPr>
                <a:t> with </a:t>
              </a:r>
              <a:r>
                <a:rPr lang="en-US" altLang="en-US" sz="1200" b="1" i="1">
                  <a:latin typeface="FreeSerif" panose="02020603050405020304"/>
                </a:rPr>
                <a:t>zero catastrophic forgetting</a:t>
              </a:r>
              <a:endParaRPr lang="en-US" altLang="en-US" sz="1200" i="1">
                <a:latin typeface="FreeSerif" panose="02020603050405020304"/>
              </a:endParaRPr>
            </a:p>
            <a:p>
              <a:pPr marL="228600" lvl="0" indent="-228600" algn="l">
                <a:lnSpc>
                  <a:spcPct val="200000"/>
                </a:lnSpc>
                <a:buFont typeface="Arial" panose="020B0604020202020204" pitchFamily="34" charset="0"/>
                <a:buAutoNum type="arabicPeriod"/>
              </a:pPr>
              <a:r>
                <a:rPr lang="en-US" altLang="en-US" sz="1200" i="1">
                  <a:latin typeface="FreeSerif" panose="02020603050405020304"/>
                </a:rPr>
                <a:t>Physical Hardware Validation:</a:t>
              </a:r>
            </a:p>
            <a:p>
              <a:pPr marL="685800" lvl="1" indent="-228600" algn="l">
                <a:lnSpc>
                  <a:spcPct val="200000"/>
                </a:lnSpc>
                <a:buFont typeface="Arial" panose="020B0604020202020204" pitchFamily="34" charset="0"/>
                <a:buChar char="•"/>
              </a:pPr>
              <a:r>
                <a:rPr lang="en-US" altLang="en-US" sz="1200" i="1">
                  <a:latin typeface="FreeSerif" panose="02020603050405020304"/>
                </a:rPr>
                <a:t>Deply GaTaP-NCAP controllers on </a:t>
              </a:r>
              <a:r>
                <a:rPr lang="en-US" altLang="en-US" sz="1200" b="1" i="1">
                  <a:latin typeface="FreeSerif" panose="02020603050405020304"/>
                </a:rPr>
                <a:t>Unitree A1 quadrupeds</a:t>
              </a:r>
              <a:r>
                <a:rPr lang="en-US" altLang="en-US" sz="1200" i="1">
                  <a:latin typeface="FreeSerif" panose="02020603050405020304"/>
                </a:rPr>
                <a:t> and bipedal platforms</a:t>
              </a:r>
            </a:p>
            <a:p>
              <a:pPr marL="685800" lvl="1" indent="-228600" algn="l">
                <a:lnSpc>
                  <a:spcPct val="200000"/>
                </a:lnSpc>
                <a:buFont typeface="Arial" panose="020B0604020202020204" pitchFamily="34" charset="0"/>
                <a:buChar char="•"/>
              </a:pPr>
              <a:r>
                <a:rPr lang="en-US" altLang="en-US" sz="1200" i="1">
                  <a:latin typeface="FreeSerif" panose="02020603050405020304"/>
                </a:rPr>
                <a:t>Demonstrate continual adaptation across changing environments</a:t>
              </a:r>
            </a:p>
            <a:p>
              <a:pPr marL="685800" lvl="1" indent="-228600" algn="l">
                <a:lnSpc>
                  <a:spcPct val="200000"/>
                </a:lnSpc>
                <a:buFont typeface="Arial" panose="020B0604020202020204" pitchFamily="34" charset="0"/>
                <a:buChar char="•"/>
              </a:pPr>
              <a:r>
                <a:rPr lang="en-US" altLang="en-US" sz="1200" i="1">
                  <a:latin typeface="FreeSerif" panose="02020603050405020304"/>
                </a:rPr>
                <a:t>No policy retraining/simulator training</a:t>
              </a:r>
            </a:p>
            <a:p>
              <a:pPr marL="228600" lvl="0" indent="-228600" algn="l">
                <a:lnSpc>
                  <a:spcPct val="200000"/>
                </a:lnSpc>
                <a:buFont typeface="Arial" panose="020B0604020202020204" pitchFamily="34" charset="0"/>
                <a:buAutoNum type="arabicPeriod"/>
              </a:pPr>
              <a:r>
                <a:rPr lang="en-US" altLang="en-US" sz="1200" i="1">
                  <a:latin typeface="FreeSerif" panose="02020603050405020304"/>
                </a:rPr>
                <a:t>Ultra-Low Compute (On Edge Devices):</a:t>
              </a:r>
            </a:p>
            <a:p>
              <a:pPr marL="685800" lvl="1" indent="-228600" algn="l">
                <a:lnSpc>
                  <a:spcPct val="200000"/>
                </a:lnSpc>
                <a:buFont typeface="Arial" panose="020B0604020202020204" pitchFamily="34" charset="0"/>
                <a:buChar char="•"/>
              </a:pPr>
              <a:r>
                <a:rPr lang="en-US" altLang="en-US" sz="1200" i="1">
                  <a:latin typeface="FreeSerif" panose="02020603050405020304"/>
                </a:rPr>
                <a:t>Run complex locomotion policies on </a:t>
              </a:r>
              <a:r>
                <a:rPr lang="en-US" altLang="en-US" sz="1200" b="1" i="1">
                  <a:latin typeface="FreeSerif" panose="02020603050405020304"/>
                </a:rPr>
                <a:t>low-cost microcontroller/edge-chips</a:t>
              </a:r>
            </a:p>
          </p:txBody>
        </p:sp>
        <p:sp>
          <p:nvSpPr>
            <p:cNvPr id="3" name="TextBox 6"/>
            <p:cNvSpPr txBox="1"/>
            <p:nvPr/>
          </p:nvSpPr>
          <p:spPr>
            <a:xfrm>
              <a:off x="114" y="5791"/>
              <a:ext cx="4700" cy="725"/>
            </a:xfrm>
            <a:prstGeom prst="rect">
              <a:avLst/>
            </a:prstGeom>
            <a:solidFill>
              <a:schemeClr val="tx1"/>
            </a:solidFill>
            <a:ln w="12700" cmpd="sng">
              <a:solidFill>
                <a:schemeClr val="tx1"/>
              </a:solidFill>
              <a:prstDash val="dashDot"/>
            </a:ln>
          </p:spPr>
          <p:txBody>
            <a:bodyPr rot="0" spcFirstLastPara="0" vertOverflow="overflow" horzOverflow="overflow" vert="horz" wrap="square" lIns="91440" tIns="45720" rIns="91440" bIns="45720" numCol="1" spcCol="0" rtlCol="0" fromWordArt="0" anchor="t" anchorCtr="0" forceAA="0" compatLnSpc="1">
              <a:spAutoFit/>
            </a:bodyPr>
            <a:lstStyle/>
            <a:p>
              <a:pPr indent="0" algn="ctr">
                <a:lnSpc>
                  <a:spcPct val="200000"/>
                </a:lnSpc>
                <a:buNone/>
              </a:pPr>
              <a:r>
                <a:rPr lang="en-US" altLang="en-US" sz="1200" b="1">
                  <a:solidFill>
                    <a:schemeClr val="bg1"/>
                  </a:solidFill>
                  <a:latin typeface="FreeSerif" panose="02020603050405020304"/>
                </a:rPr>
                <a:t>PHASE 1: PROOF OF CONCEPT (Months 0-18)</a:t>
              </a:r>
            </a:p>
          </p:txBody>
        </p:sp>
      </p:grpSp>
      <p:grpSp>
        <p:nvGrpSpPr>
          <p:cNvPr id="4" name="Group 3"/>
          <p:cNvGrpSpPr/>
          <p:nvPr/>
        </p:nvGrpSpPr>
        <p:grpSpPr>
          <a:xfrm>
            <a:off x="4348480" y="533400"/>
            <a:ext cx="3495675" cy="2913957"/>
            <a:chOff x="114" y="5791"/>
            <a:chExt cx="4700" cy="2975"/>
          </a:xfrm>
        </p:grpSpPr>
        <p:sp>
          <p:nvSpPr>
            <p:cNvPr id="5" name="TextBox 6"/>
            <p:cNvSpPr txBox="1"/>
            <p:nvPr/>
          </p:nvSpPr>
          <p:spPr>
            <a:xfrm>
              <a:off x="114" y="6787"/>
              <a:ext cx="4700" cy="1979"/>
            </a:xfrm>
            <a:prstGeom prst="rect">
              <a:avLst/>
            </a:prstGeom>
            <a:noFill/>
            <a:ln w="12700" cmpd="sng">
              <a:solidFill>
                <a:schemeClr val="tx1"/>
              </a:solidFill>
              <a:prstDash val="dashDot"/>
            </a:ln>
          </p:spPr>
          <p:txBody>
            <a:bodyPr rot="0" spcFirstLastPara="0" vertOverflow="overflow" horzOverflow="overflow" vert="horz" wrap="square" lIns="91440" tIns="45720" rIns="91440" bIns="45720" numCol="1" spcCol="0" rtlCol="0" fromWordArt="0" anchor="t" anchorCtr="0" forceAA="0" compatLnSpc="1">
              <a:spAutoFit/>
            </a:bodyPr>
            <a:lstStyle/>
            <a:p>
              <a:pPr marL="228600" indent="-228600" algn="l">
                <a:lnSpc>
                  <a:spcPct val="200000"/>
                </a:lnSpc>
                <a:buAutoNum type="arabicPeriod"/>
              </a:pPr>
              <a:r>
                <a:rPr lang="en-US" altLang="en-US" sz="1200" b="1" i="1">
                  <a:latin typeface="FreeSerif" panose="02020603050405020304"/>
                </a:rPr>
                <a:t>Improve Metrics:</a:t>
              </a:r>
            </a:p>
            <a:p>
              <a:pPr marL="685800" lvl="1" indent="-228600" algn="l">
                <a:lnSpc>
                  <a:spcPct val="200000"/>
                </a:lnSpc>
                <a:buFont typeface="Arial" panose="020B0604020202020204" pitchFamily="34" charset="0"/>
                <a:buChar char="•"/>
              </a:pPr>
              <a:r>
                <a:rPr lang="en-US" altLang="en-US" sz="1200" b="1" i="1">
                  <a:latin typeface="FreeSerif" panose="02020603050405020304"/>
                </a:rPr>
                <a:t>Improve sample efficiency by 10x</a:t>
              </a:r>
            </a:p>
            <a:p>
              <a:pPr marL="685800" lvl="1" indent="-228600" algn="l">
                <a:lnSpc>
                  <a:spcPct val="200000"/>
                </a:lnSpc>
                <a:buFont typeface="Arial" panose="020B0604020202020204" pitchFamily="34" charset="0"/>
                <a:buChar char="•"/>
              </a:pPr>
              <a:r>
                <a:rPr lang="en-US" altLang="en-US" sz="1200" b="1" i="1">
                  <a:latin typeface="FreeSerif" panose="02020603050405020304"/>
                </a:rPr>
                <a:t>Improve parameter count by 100x</a:t>
              </a:r>
            </a:p>
            <a:p>
              <a:pPr marL="685800" lvl="1" indent="-228600" algn="l">
                <a:lnSpc>
                  <a:spcPct val="200000"/>
                </a:lnSpc>
                <a:buFont typeface="Arial" panose="020B0604020202020204" pitchFamily="34" charset="0"/>
                <a:buChar char="•"/>
              </a:pPr>
              <a:r>
                <a:rPr lang="en-US" altLang="en-US" sz="1200" b="1" i="1">
                  <a:latin typeface="FreeSerif" panose="02020603050405020304"/>
                </a:rPr>
                <a:t>zero-shot sim-to-real transfer</a:t>
              </a:r>
              <a:endParaRPr lang="en-US" altLang="en-US" sz="1200" i="1">
                <a:latin typeface="FreeSerif" panose="02020603050405020304"/>
              </a:endParaRPr>
            </a:p>
            <a:p>
              <a:pPr marL="228600" lvl="0" indent="-228600" algn="l">
                <a:lnSpc>
                  <a:spcPct val="200000"/>
                </a:lnSpc>
                <a:buFont typeface="Arial" panose="020B0604020202020204" pitchFamily="34" charset="0"/>
                <a:buAutoNum type="arabicPeriod"/>
              </a:pPr>
              <a:r>
                <a:rPr lang="en-US" altLang="en-US" sz="1200" i="1">
                  <a:latin typeface="FreeSerif" panose="02020603050405020304"/>
                </a:rPr>
                <a:t>Raise More Funds:</a:t>
              </a:r>
            </a:p>
          </p:txBody>
        </p:sp>
        <p:sp>
          <p:nvSpPr>
            <p:cNvPr id="6" name="TextBox 6"/>
            <p:cNvSpPr txBox="1"/>
            <p:nvPr/>
          </p:nvSpPr>
          <p:spPr>
            <a:xfrm>
              <a:off x="114" y="5791"/>
              <a:ext cx="4700" cy="847"/>
            </a:xfrm>
            <a:prstGeom prst="rect">
              <a:avLst/>
            </a:prstGeom>
            <a:solidFill>
              <a:schemeClr val="tx1"/>
            </a:solidFill>
            <a:ln w="12700" cmpd="sng">
              <a:solidFill>
                <a:schemeClr val="tx1"/>
              </a:solidFill>
              <a:prstDash val="dashDot"/>
            </a:ln>
          </p:spPr>
          <p:txBody>
            <a:bodyPr rot="0" spcFirstLastPara="0" vertOverflow="overflow" horzOverflow="overflow" vert="horz" wrap="square" lIns="91440" tIns="45720" rIns="91440" bIns="45720" numCol="1" spcCol="0" rtlCol="0" fromWordArt="0" anchor="t" anchorCtr="0" forceAA="0" compatLnSpc="1">
              <a:spAutoFit/>
            </a:bodyPr>
            <a:lstStyle/>
            <a:p>
              <a:pPr indent="0" algn="ctr">
                <a:lnSpc>
                  <a:spcPct val="200000"/>
                </a:lnSpc>
                <a:buNone/>
              </a:pPr>
              <a:r>
                <a:rPr lang="en-US" altLang="en-US" sz="1200" b="1">
                  <a:solidFill>
                    <a:schemeClr val="bg1"/>
                  </a:solidFill>
                  <a:latin typeface="FreeSerif" panose="02020603050405020304"/>
                </a:rPr>
                <a:t>PHASE 2: STRATEGIC FLYWHEEL </a:t>
              </a:r>
              <a:br>
                <a:rPr lang="en-US" altLang="en-US" sz="1200" b="1">
                  <a:solidFill>
                    <a:schemeClr val="bg1"/>
                  </a:solidFill>
                  <a:latin typeface="FreeSerif" panose="02020603050405020304"/>
                </a:rPr>
              </a:br>
              <a:r>
                <a:rPr lang="en-US" altLang="en-US" sz="1200" b="1">
                  <a:solidFill>
                    <a:schemeClr val="bg1"/>
                  </a:solidFill>
                  <a:latin typeface="FreeSerif" panose="02020603050405020304"/>
                </a:rPr>
                <a:t>(Months 18-24)</a:t>
              </a:r>
            </a:p>
          </p:txBody>
        </p:sp>
      </p:grpSp>
      <p:grpSp>
        <p:nvGrpSpPr>
          <p:cNvPr id="8" name="Group 7"/>
          <p:cNvGrpSpPr/>
          <p:nvPr/>
        </p:nvGrpSpPr>
        <p:grpSpPr>
          <a:xfrm>
            <a:off x="8374380" y="533400"/>
            <a:ext cx="3495675" cy="3308985"/>
            <a:chOff x="114" y="5791"/>
            <a:chExt cx="4700" cy="5211"/>
          </a:xfrm>
        </p:grpSpPr>
        <p:sp>
          <p:nvSpPr>
            <p:cNvPr id="9" name="TextBox 6"/>
            <p:cNvSpPr txBox="1"/>
            <p:nvPr/>
          </p:nvSpPr>
          <p:spPr>
            <a:xfrm>
              <a:off x="114" y="6787"/>
              <a:ext cx="4700" cy="4215"/>
            </a:xfrm>
            <a:prstGeom prst="rect">
              <a:avLst/>
            </a:prstGeom>
            <a:noFill/>
            <a:ln w="12700" cmpd="sng">
              <a:solidFill>
                <a:schemeClr val="tx1"/>
              </a:solidFill>
              <a:prstDash val="dashDot"/>
            </a:ln>
          </p:spPr>
          <p:txBody>
            <a:bodyPr rot="0" spcFirstLastPara="0" vertOverflow="overflow" horzOverflow="overflow" vert="horz" wrap="square" lIns="91440" tIns="45720" rIns="91440" bIns="45720" numCol="1" spcCol="0" rtlCol="0" fromWordArt="0" anchor="t" anchorCtr="0" forceAA="0" compatLnSpc="1">
              <a:spAutoFit/>
            </a:bodyPr>
            <a:lstStyle/>
            <a:p>
              <a:pPr marL="228600" indent="-228600" algn="l">
                <a:lnSpc>
                  <a:spcPct val="200000"/>
                </a:lnSpc>
                <a:buAutoNum type="arabicPeriod"/>
              </a:pPr>
              <a:r>
                <a:rPr lang="en-US" altLang="en-US" sz="1200" b="1" i="1">
                  <a:latin typeface="FreeSerif" panose="02020603050405020304"/>
                </a:rPr>
                <a:t>Scale Beyond Motor-Control:</a:t>
              </a:r>
            </a:p>
            <a:p>
              <a:pPr marL="685800" lvl="1" indent="-228600" algn="l">
                <a:lnSpc>
                  <a:spcPct val="200000"/>
                </a:lnSpc>
                <a:buFont typeface="Arial" panose="020B0604020202020204" pitchFamily="34" charset="0"/>
                <a:buChar char="•"/>
              </a:pPr>
              <a:r>
                <a:rPr lang="en-US" altLang="en-US" sz="1200" i="1">
                  <a:latin typeface="FreeSerif" panose="02020603050405020304"/>
                </a:rPr>
                <a:t>Extend to self-coordinating, multi-agent swarms</a:t>
              </a:r>
            </a:p>
            <a:p>
              <a:pPr marL="228600" lvl="0" indent="-228600" algn="l">
                <a:lnSpc>
                  <a:spcPct val="200000"/>
                </a:lnSpc>
                <a:buFont typeface="Arial" panose="020B0604020202020204" pitchFamily="34" charset="0"/>
                <a:buAutoNum type="arabicPeriod"/>
              </a:pPr>
              <a:r>
                <a:rPr lang="en-US" altLang="en-US" sz="1200" i="1">
                  <a:latin typeface="FreeSerif" panose="02020603050405020304"/>
                </a:rPr>
                <a:t>Redundancy and Self-healing AI:</a:t>
              </a:r>
            </a:p>
            <a:p>
              <a:pPr marL="685800" lvl="1" indent="-228600" algn="l">
                <a:lnSpc>
                  <a:spcPct val="200000"/>
                </a:lnSpc>
                <a:buFont typeface="Arial" panose="020B0604020202020204" pitchFamily="34" charset="0"/>
                <a:buChar char="•"/>
              </a:pPr>
              <a:r>
                <a:rPr lang="en-US" altLang="en-US" sz="1200" i="1">
                  <a:latin typeface="FreeSerif" panose="02020603050405020304"/>
                </a:rPr>
                <a:t>Research re-wiring and pruning of networks</a:t>
              </a:r>
            </a:p>
            <a:p>
              <a:pPr marL="685800" lvl="1" indent="-228600" algn="l">
                <a:lnSpc>
                  <a:spcPct val="200000"/>
                </a:lnSpc>
                <a:buFont typeface="Arial" panose="020B0604020202020204" pitchFamily="34" charset="0"/>
                <a:buChar char="•"/>
              </a:pPr>
              <a:r>
                <a:rPr lang="en-US" altLang="en-US" sz="1200" i="1">
                  <a:latin typeface="FreeSerif" panose="02020603050405020304"/>
                </a:rPr>
                <a:t>Research adaptation to noise and hardware failures</a:t>
              </a:r>
            </a:p>
          </p:txBody>
        </p:sp>
        <p:sp>
          <p:nvSpPr>
            <p:cNvPr id="10" name="TextBox 6"/>
            <p:cNvSpPr txBox="1"/>
            <p:nvPr/>
          </p:nvSpPr>
          <p:spPr>
            <a:xfrm>
              <a:off x="114" y="5791"/>
              <a:ext cx="4700" cy="725"/>
            </a:xfrm>
            <a:prstGeom prst="rect">
              <a:avLst/>
            </a:prstGeom>
            <a:solidFill>
              <a:schemeClr val="tx1"/>
            </a:solidFill>
            <a:ln w="12700" cmpd="sng">
              <a:solidFill>
                <a:schemeClr val="tx1"/>
              </a:solidFill>
              <a:prstDash val="dashDot"/>
            </a:ln>
          </p:spPr>
          <p:txBody>
            <a:bodyPr rot="0" spcFirstLastPara="0" vertOverflow="overflow" horzOverflow="overflow" vert="horz" wrap="square" lIns="91440" tIns="45720" rIns="91440" bIns="45720" numCol="1" spcCol="0" rtlCol="0" fromWordArt="0" anchor="t" anchorCtr="0" forceAA="0" compatLnSpc="1">
              <a:spAutoFit/>
            </a:bodyPr>
            <a:lstStyle/>
            <a:p>
              <a:pPr indent="0" algn="ctr">
                <a:lnSpc>
                  <a:spcPct val="200000"/>
                </a:lnSpc>
                <a:buNone/>
              </a:pPr>
              <a:r>
                <a:rPr lang="en-US" altLang="en-US" sz="1200" b="1">
                  <a:solidFill>
                    <a:schemeClr val="bg1"/>
                  </a:solidFill>
                  <a:latin typeface="FreeSerif" panose="02020603050405020304"/>
                </a:rPr>
                <a:t>PHASE 3: LONG TERM VISION (Years 2-5)</a:t>
              </a:r>
            </a:p>
          </p:txBody>
        </p:sp>
      </p:grpSp>
      <p:sp>
        <p:nvSpPr>
          <p:cNvPr id="11" name="Text Box 10"/>
          <p:cNvSpPr txBox="1"/>
          <p:nvPr/>
        </p:nvSpPr>
        <p:spPr>
          <a:xfrm>
            <a:off x="4224020" y="6059805"/>
            <a:ext cx="7576185" cy="737235"/>
          </a:xfrm>
          <a:prstGeom prst="rect">
            <a:avLst/>
          </a:prstGeom>
          <a:noFill/>
          <a:ln w="28575" cmpd="sng">
            <a:solidFill>
              <a:schemeClr val="tx1"/>
            </a:solidFill>
            <a:prstDash val="solid"/>
          </a:ln>
        </p:spPr>
        <p:txBody>
          <a:bodyPr wrap="square" rtlCol="0">
            <a:spAutoFit/>
          </a:bodyPr>
          <a:lstStyle/>
          <a:p>
            <a:pPr algn="ctr"/>
            <a:r>
              <a:rPr lang="en-US" sz="1400" i="1">
                <a:latin typeface="FreeSerif" panose="02020603050405020304" charset="0"/>
                <a:cs typeface="FreeSerif" panose="02020603050405020304" charset="0"/>
              </a:rPr>
              <a:t>"The future of AI is not larger black boxes—it is biological parsimony. By uniting neural circuit priors (NCAP) with modular continual gating (GaTaP), we build physical robots that learn like animals: stable on day one, computationally frugal, and capable of infinite lifelong adaptation."</a:t>
            </a:r>
            <a:endParaRPr lang="en-US" altLang="en-US" sz="1400" i="1">
              <a:latin typeface="FreeSerif" panose="02020603050405020304" charset="0"/>
              <a:cs typeface="FreeSerif" panose="020206030504050203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6"/>
          <p:cNvSpPr txBox="1"/>
          <p:nvPr/>
        </p:nvSpPr>
        <p:spPr>
          <a:xfrm>
            <a:off x="4479290" y="146050"/>
            <a:ext cx="3234055" cy="368300"/>
          </a:xfrm>
          <a:prstGeom prst="rect">
            <a:avLst/>
          </a:prstGeom>
          <a:noFill/>
        </p:spPr>
        <p:txBody>
          <a:bodyPr wrap="square" lIns="91440" tIns="45720" rIns="91440" bIns="45720" rtlCol="0" anchor="t">
            <a:spAutoFit/>
          </a:bodyPr>
          <a:lstStyle/>
          <a:p>
            <a:pPr algn="ctr"/>
            <a:r>
              <a:rPr lang="en-US" altLang="en-US" b="1" i="1" dirty="0">
                <a:latin typeface="FreeSerif" panose="02020603050405020304"/>
              </a:rPr>
              <a:t>$1Million Research</a:t>
            </a:r>
          </a:p>
        </p:txBody>
      </p:sp>
      <p:grpSp>
        <p:nvGrpSpPr>
          <p:cNvPr id="42" name="Group 41"/>
          <p:cNvGrpSpPr/>
          <p:nvPr/>
        </p:nvGrpSpPr>
        <p:grpSpPr>
          <a:xfrm>
            <a:off x="200025" y="533400"/>
            <a:ext cx="11831955" cy="5648325"/>
            <a:chOff x="114" y="5791"/>
            <a:chExt cx="4700" cy="8895"/>
          </a:xfrm>
        </p:grpSpPr>
        <p:sp>
          <p:nvSpPr>
            <p:cNvPr id="43" name="TextBox 6"/>
            <p:cNvSpPr txBox="1"/>
            <p:nvPr/>
          </p:nvSpPr>
          <p:spPr>
            <a:xfrm>
              <a:off x="114" y="6787"/>
              <a:ext cx="4700" cy="7899"/>
            </a:xfrm>
            <a:prstGeom prst="rect">
              <a:avLst/>
            </a:prstGeom>
            <a:noFill/>
            <a:ln w="12700" cmpd="sng">
              <a:solidFill>
                <a:schemeClr val="tx1"/>
              </a:solidFill>
              <a:prstDash val="dashDot"/>
            </a:ln>
          </p:spPr>
          <p:txBody>
            <a:bodyPr rot="0" spcFirstLastPara="0" vertOverflow="overflow" horzOverflow="overflow" vert="horz" wrap="square" lIns="91440" tIns="45720" rIns="91440" bIns="45720" numCol="1" spcCol="0" rtlCol="0" fromWordArt="0" anchor="t" anchorCtr="0" forceAA="0" compatLnSpc="1">
              <a:spAutoFit/>
            </a:bodyPr>
            <a:lstStyle/>
            <a:p>
              <a:pPr marL="228600" indent="-228600" algn="l">
                <a:lnSpc>
                  <a:spcPct val="250000"/>
                </a:lnSpc>
                <a:buAutoNum type="arabicPeriod"/>
              </a:pPr>
              <a:r>
                <a:rPr lang="en-US" altLang="en-US" sz="1600" b="1" i="1" dirty="0" err="1">
                  <a:latin typeface="FreeSerif" panose="02020603050405020304"/>
                </a:rPr>
                <a:t>Bhattasali</a:t>
              </a:r>
              <a:r>
                <a:rPr lang="en-US" altLang="en-US" sz="1600" b="1" i="1" dirty="0">
                  <a:latin typeface="FreeSerif" panose="02020603050405020304"/>
                </a:rPr>
                <a:t>, Nikhil X., et al. "Neural circuit architectural priors for quadruped locomotion." </a:t>
              </a:r>
              <a:r>
                <a:rPr lang="en-US" altLang="en-US" sz="1600" b="1" i="1" dirty="0" err="1">
                  <a:latin typeface="FreeSerif" panose="02020603050405020304"/>
                </a:rPr>
                <a:t>arXiv</a:t>
              </a:r>
              <a:r>
                <a:rPr lang="en-US" altLang="en-US" sz="1600" b="1" i="1" dirty="0">
                  <a:latin typeface="FreeSerif" panose="02020603050405020304"/>
                </a:rPr>
                <a:t> preprint arXiv:2410.07174 (2024).</a:t>
              </a:r>
            </a:p>
            <a:p>
              <a:pPr marL="228600" indent="-228600" algn="l">
                <a:lnSpc>
                  <a:spcPct val="250000"/>
                </a:lnSpc>
                <a:buAutoNum type="arabicPeriod"/>
              </a:pPr>
              <a:r>
                <a:rPr lang="en-US" altLang="en-US" sz="1600" b="1" i="1" dirty="0" err="1">
                  <a:latin typeface="FreeSerif" panose="02020603050405020304"/>
                </a:rPr>
                <a:t>Njupoun</a:t>
              </a:r>
              <a:r>
                <a:rPr lang="en-US" altLang="en-US" sz="1600" b="1" i="1" dirty="0">
                  <a:latin typeface="FreeSerif" panose="02020603050405020304"/>
                </a:rPr>
                <a:t>, Abdel </a:t>
              </a:r>
              <a:r>
                <a:rPr lang="en-US" altLang="en-US" sz="1600" b="1" i="1" dirty="0" err="1">
                  <a:latin typeface="FreeSerif" panose="02020603050405020304"/>
                </a:rPr>
                <a:t>Mfougouon</a:t>
              </a:r>
              <a:r>
                <a:rPr lang="en-US" altLang="en-US" sz="1600" b="1" i="1" dirty="0">
                  <a:latin typeface="FreeSerif" panose="02020603050405020304"/>
                </a:rPr>
                <a:t>, et al. "Gated Target Propagation for Compositional Generalization in Continual Learning." </a:t>
              </a:r>
              <a:r>
                <a:rPr lang="en-US" altLang="en-US" sz="1600" b="1" i="1" dirty="0" err="1">
                  <a:latin typeface="FreeSerif" panose="02020603050405020304"/>
                </a:rPr>
                <a:t>arXiv</a:t>
              </a:r>
              <a:r>
                <a:rPr lang="en-US" altLang="en-US" sz="1600" b="1" i="1" dirty="0">
                  <a:latin typeface="FreeSerif" panose="02020603050405020304"/>
                </a:rPr>
                <a:t> preprint arXiv:2610.04649 (2026).</a:t>
              </a:r>
            </a:p>
            <a:p>
              <a:pPr marL="228600" indent="-228600" algn="l">
                <a:lnSpc>
                  <a:spcPct val="250000"/>
                </a:lnSpc>
                <a:buAutoNum type="arabicPeriod"/>
              </a:pPr>
              <a:r>
                <a:rPr lang="en-US" altLang="en-US" sz="1600" b="1" i="1" dirty="0">
                  <a:latin typeface="FreeSerif" panose="02020603050405020304"/>
                </a:rPr>
                <a:t>Xu, </a:t>
              </a:r>
              <a:r>
                <a:rPr lang="en-US" altLang="en-US" sz="1600" b="1" i="1" dirty="0" err="1">
                  <a:latin typeface="FreeSerif" panose="02020603050405020304"/>
                </a:rPr>
                <a:t>Kunpeng</a:t>
              </a:r>
              <a:r>
                <a:rPr lang="en-US" altLang="en-US" sz="1600" b="1" i="1" dirty="0">
                  <a:latin typeface="FreeSerif" panose="02020603050405020304"/>
                </a:rPr>
                <a:t>, </a:t>
              </a:r>
              <a:r>
                <a:rPr lang="en-US" altLang="en-US" sz="1600" b="1" i="1" dirty="0" err="1">
                  <a:latin typeface="FreeSerif" panose="02020603050405020304"/>
                </a:rPr>
                <a:t>Lifei</a:t>
              </a:r>
              <a:r>
                <a:rPr lang="en-US" altLang="en-US" sz="1600" b="1" i="1" dirty="0">
                  <a:latin typeface="FreeSerif" panose="02020603050405020304"/>
                </a:rPr>
                <a:t> Chen, and </a:t>
              </a:r>
              <a:r>
                <a:rPr lang="en-US" altLang="en-US" sz="1600" b="1" i="1" dirty="0" err="1">
                  <a:latin typeface="FreeSerif" panose="02020603050405020304"/>
                </a:rPr>
                <a:t>Shengrui</a:t>
              </a:r>
              <a:r>
                <a:rPr lang="en-US" altLang="en-US" sz="1600" b="1" i="1" dirty="0">
                  <a:latin typeface="FreeSerif" panose="02020603050405020304"/>
                </a:rPr>
                <a:t> Wang. "Kolmogorov-</a:t>
              </a:r>
              <a:r>
                <a:rPr lang="en-US" altLang="en-US" sz="1600" b="1" i="1" dirty="0" err="1">
                  <a:latin typeface="FreeSerif" panose="02020603050405020304"/>
                </a:rPr>
                <a:t>arnold</a:t>
              </a:r>
              <a:r>
                <a:rPr lang="en-US" altLang="en-US" sz="1600" b="1" i="1" dirty="0">
                  <a:latin typeface="FreeSerif" panose="02020603050405020304"/>
                </a:rPr>
                <a:t> networks for time series: Bridging predictive power and interpretability." </a:t>
              </a:r>
              <a:r>
                <a:rPr lang="en-US" altLang="en-US" sz="1600" b="1" i="1" dirty="0" err="1">
                  <a:latin typeface="FreeSerif" panose="02020603050405020304"/>
                </a:rPr>
                <a:t>arXiv</a:t>
              </a:r>
              <a:r>
                <a:rPr lang="en-US" altLang="en-US" sz="1600" b="1" i="1" dirty="0">
                  <a:latin typeface="FreeSerif" panose="02020603050405020304"/>
                </a:rPr>
                <a:t> preprint arXiv:2406.02496 (2024).</a:t>
              </a:r>
            </a:p>
            <a:p>
              <a:pPr marL="228600" indent="-228600" algn="l">
                <a:lnSpc>
                  <a:spcPct val="250000"/>
                </a:lnSpc>
                <a:buAutoNum type="arabicPeriod"/>
              </a:pPr>
              <a:r>
                <a:rPr lang="en-US" altLang="en-US" sz="1600" b="1" i="1" dirty="0">
                  <a:latin typeface="FreeSerif" panose="02020603050405020304"/>
                </a:rPr>
                <a:t>Ghosh, Marcus, and Dan FM Goodman. "Partially recurrent neural networks maximize performance and minimize wiring."</a:t>
              </a:r>
            </a:p>
            <a:p>
              <a:pPr marL="228600" indent="-228600" algn="l">
                <a:lnSpc>
                  <a:spcPct val="250000"/>
                </a:lnSpc>
                <a:buAutoNum type="arabicPeriod"/>
              </a:pPr>
              <a:r>
                <a:rPr lang="en-US" altLang="en-US" sz="1600" b="1" i="1" dirty="0" err="1">
                  <a:latin typeface="FreeSerif" panose="02020603050405020304"/>
                </a:rPr>
                <a:t>Seyyedi</a:t>
              </a:r>
              <a:r>
                <a:rPr lang="en-US" altLang="en-US" sz="1600" b="1" i="1" dirty="0">
                  <a:latin typeface="FreeSerif" panose="02020603050405020304"/>
                </a:rPr>
                <a:t>, Azra, Mahdi </a:t>
              </a:r>
              <a:r>
                <a:rPr lang="en-US" altLang="en-US" sz="1600" b="1" i="1" dirty="0" err="1">
                  <a:latin typeface="FreeSerif" panose="02020603050405020304"/>
                </a:rPr>
                <a:t>Bohlouli</a:t>
              </a:r>
              <a:r>
                <a:rPr lang="en-US" altLang="en-US" sz="1600" b="1" i="1" dirty="0">
                  <a:latin typeface="FreeSerif" panose="02020603050405020304"/>
                </a:rPr>
                <a:t>, and </a:t>
              </a:r>
              <a:r>
                <a:rPr lang="en-US" altLang="en-US" sz="1600" b="1" i="1" dirty="0" err="1">
                  <a:latin typeface="FreeSerif" panose="02020603050405020304"/>
                </a:rPr>
                <a:t>SeyedEhsan</a:t>
              </a:r>
              <a:r>
                <a:rPr lang="en-US" altLang="en-US" sz="1600" b="1" i="1" dirty="0">
                  <a:latin typeface="FreeSerif" panose="02020603050405020304"/>
                </a:rPr>
                <a:t> </a:t>
              </a:r>
              <a:r>
                <a:rPr lang="en-US" altLang="en-US" sz="1600" b="1" i="1" dirty="0" err="1">
                  <a:latin typeface="FreeSerif" panose="02020603050405020304"/>
                </a:rPr>
                <a:t>Nedaaee</a:t>
              </a:r>
              <a:r>
                <a:rPr lang="en-US" altLang="en-US" sz="1600" b="1" i="1" dirty="0">
                  <a:latin typeface="FreeSerif" panose="02020603050405020304"/>
                </a:rPr>
                <a:t> </a:t>
              </a:r>
              <a:r>
                <a:rPr lang="en-US" altLang="en-US" sz="1600" b="1" i="1" dirty="0" err="1">
                  <a:latin typeface="FreeSerif" panose="02020603050405020304"/>
                </a:rPr>
                <a:t>Oskoee</a:t>
              </a:r>
              <a:r>
                <a:rPr lang="en-US" altLang="en-US" sz="1600" b="1" i="1" dirty="0">
                  <a:latin typeface="FreeSerif" panose="02020603050405020304"/>
                </a:rPr>
                <a:t>. "Self-organizing complex networks with AI-driven adaptive nodes for optimized connectivity and energy efficiency." Scientific Reports 15.1 (2025): 44527.</a:t>
              </a:r>
            </a:p>
          </p:txBody>
        </p:sp>
        <p:sp>
          <p:nvSpPr>
            <p:cNvPr id="3" name="TextBox 6"/>
            <p:cNvSpPr txBox="1"/>
            <p:nvPr/>
          </p:nvSpPr>
          <p:spPr>
            <a:xfrm>
              <a:off x="114" y="5791"/>
              <a:ext cx="4700" cy="1113"/>
            </a:xfrm>
            <a:prstGeom prst="rect">
              <a:avLst/>
            </a:prstGeom>
            <a:solidFill>
              <a:schemeClr val="tx1"/>
            </a:solidFill>
            <a:ln w="12700" cmpd="sng">
              <a:solidFill>
                <a:schemeClr val="tx1"/>
              </a:solidFill>
              <a:prstDash val="dashDot"/>
            </a:ln>
          </p:spPr>
          <p:txBody>
            <a:bodyPr rot="0" spcFirstLastPara="0" vertOverflow="overflow" horzOverflow="overflow" vert="horz" wrap="square" lIns="91440" tIns="45720" rIns="91440" bIns="45720" numCol="1" spcCol="0" rtlCol="0" fromWordArt="0" anchor="t" anchorCtr="0" forceAA="0" compatLnSpc="1">
              <a:spAutoFit/>
            </a:bodyPr>
            <a:lstStyle/>
            <a:p>
              <a:pPr indent="0" algn="ctr">
                <a:lnSpc>
                  <a:spcPct val="250000"/>
                </a:lnSpc>
                <a:buNone/>
              </a:pPr>
              <a:r>
                <a:rPr lang="" altLang="en-US" sz="1600" b="1">
                  <a:solidFill>
                    <a:schemeClr val="bg1"/>
                  </a:solidFill>
                  <a:latin typeface="FreeSerif" panose="02020603050405020304"/>
                </a:rPr>
                <a:t>REFERENCES</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4"/>
          <p:cNvSpPr txBox="1"/>
          <p:nvPr/>
        </p:nvSpPr>
        <p:spPr>
          <a:xfrm>
            <a:off x="2691130" y="2967990"/>
            <a:ext cx="6809740" cy="922020"/>
          </a:xfrm>
          <a:prstGeom prst="rect">
            <a:avLst/>
          </a:prstGeom>
          <a:noFill/>
        </p:spPr>
        <p:txBody>
          <a:bodyPr wrap="square" rtlCol="0">
            <a:spAutoFit/>
          </a:bodyPr>
          <a:lstStyle/>
          <a:p>
            <a:pPr algn="ctr"/>
            <a:r>
              <a:rPr lang="en-US" altLang="en-US" sz="5400" i="1">
                <a:latin typeface="FreeSerif" panose="02020603050405020304" charset="0"/>
                <a:cs typeface="FreeSerif" panose="02020603050405020304" charset="0"/>
              </a:rPr>
              <a:t>Thank You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宋体"/>
        <a:font script="Hant" typeface="新細明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454</Words>
  <Application>Microsoft Office PowerPoint</Application>
  <PresentationFormat>Widescreen</PresentationFormat>
  <Paragraphs>64</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宋体</vt:lpstr>
      <vt:lpstr>Arial</vt:lpstr>
      <vt:lpstr>Arial Black</vt:lpstr>
      <vt:lpstr>Calibri</vt:lpstr>
      <vt:lpstr>FreeSerif</vt:lpstr>
      <vt:lpstr>Office Theme</vt:lpstr>
      <vt:lpstr>Machine Learning Street Talk   The MLP Assumption, Inductive Biases, Self-organizing/Coordinating Networks</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Emmanuel Olateju</cp:lastModifiedBy>
  <cp:revision>25</cp:revision>
  <dcterms:created xsi:type="dcterms:W3CDTF">2026-10-22T20:37:41Z</dcterms:created>
  <dcterms:modified xsi:type="dcterms:W3CDTF">2026-10-22T20:52:04Z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1033-11.1.0.9505</vt:lpwstr>
  </property>
</Properties>
</file>