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handoutMasterIdLst>
    <p:handoutMasterId r:id="rId12"/>
  </p:handoutMasterIdLst>
  <p:sldIdLst>
    <p:sldId id="256" r:id="rId3"/>
    <p:sldId id="257" r:id="rId4"/>
    <p:sldId id="258" r:id="rId5"/>
    <p:sldId id="259" r:id="rId6"/>
    <p:sldId id="260" r:id="rId7"/>
    <p:sldId id="261" r:id="rId8"/>
    <p:sldId id="263" r:id="rId9"/>
    <p:sldId id="262" r:id="rId10"/>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123"/>
        <p:guide pos="3852"/>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tableStyles" Target="tableStyles.xml"/><Relationship Id="rId14" Type="http://schemas.openxmlformats.org/officeDocument/2006/relationships/viewProps" Target="viewProps.xml"/><Relationship Id="rId13" Type="http://schemas.openxmlformats.org/officeDocument/2006/relationships/presProps" Target="presProps.xml"/><Relationship Id="rId12" Type="http://schemas.openxmlformats.org/officeDocument/2006/relationships/handoutMaster" Target="handoutMasters/handoutMaster1.xml"/><Relationship Id="rId11" Type="http://schemas.openxmlformats.org/officeDocument/2006/relationships/notesMaster" Target="notesMasters/notesMaster1.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9.png"/><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1"/>
          <p:cNvSpPr>
            <a:spLocks noGrp="1"/>
          </p:cNvSpPr>
          <p:nvPr>
            <p:ph type="ctrTitle"/>
          </p:nvPr>
        </p:nvSpPr>
        <p:spPr>
          <a:xfrm>
            <a:off x="1524000" y="733164"/>
            <a:ext cx="9144000" cy="2698115"/>
          </a:xfrm>
        </p:spPr>
        <p:txBody>
          <a:bodyPr anchor="ctr" anchorCtr="0">
            <a:noAutofit/>
          </a:bodyPr>
          <a:lstStyle/>
          <a:p>
            <a:pPr>
              <a:lnSpc>
                <a:spcPct val="130000"/>
              </a:lnSpc>
            </a:pPr>
            <a:r>
              <a:rPr lang="en-US" altLang="en-US" sz="3600" i="1">
                <a:solidFill>
                  <a:srgbClr val="000000"/>
                </a:solidFill>
                <a:latin typeface="FreeSerif" panose="02020603050405020304"/>
                <a:ea typeface="Roboto" panose="02000000000000000000"/>
                <a:cs typeface="Roboto" panose="02000000000000000000"/>
              </a:rPr>
              <a:t>Machine Learning Street Talk</a:t>
            </a:r>
            <a:br>
              <a:rPr lang="en-US" altLang="en-US" sz="3600" i="1">
                <a:solidFill>
                  <a:srgbClr val="000000"/>
                </a:solidFill>
                <a:latin typeface="FreeSerif" panose="02020603050405020304"/>
                <a:ea typeface="Roboto" panose="02000000000000000000"/>
                <a:cs typeface="Roboto" panose="02000000000000000000"/>
              </a:rPr>
            </a:br>
            <a:br>
              <a:rPr lang="en-US" altLang="en-US" sz="1200" i="1">
                <a:solidFill>
                  <a:srgbClr val="000000"/>
                </a:solidFill>
                <a:latin typeface="FreeSerif" panose="02020603050405020304"/>
                <a:ea typeface="Roboto" panose="02000000000000000000"/>
                <a:cs typeface="Roboto" panose="02000000000000000000"/>
              </a:rPr>
            </a:br>
            <a:br>
              <a:rPr lang="en-US" altLang="en-US" sz="2000" i="1">
                <a:solidFill>
                  <a:srgbClr val="000000"/>
                </a:solidFill>
                <a:latin typeface="FreeSerif" panose="02020603050405020304"/>
                <a:ea typeface="Roboto" panose="02000000000000000000"/>
                <a:cs typeface="Roboto" panose="02000000000000000000"/>
              </a:rPr>
            </a:br>
            <a:r>
              <a:rPr lang="en-US" altLang="en-US" sz="2000" i="1">
                <a:solidFill>
                  <a:srgbClr val="000000"/>
                </a:solidFill>
                <a:latin typeface="FreeSerif" panose="02020603050405020304"/>
                <a:ea typeface="Roboto" panose="02000000000000000000"/>
                <a:cs typeface="Roboto" panose="02000000000000000000"/>
              </a:rPr>
              <a:t>The MLP Assumption, Inductive Biases, Self-organizing/Coordinating Networks</a:t>
            </a:r>
            <a:endParaRPr lang="en-US" altLang="en-US" sz="2000" i="1">
              <a:solidFill>
                <a:srgbClr val="000000"/>
              </a:solidFill>
              <a:latin typeface="FreeSerif" panose="02020603050405020304"/>
              <a:ea typeface="Roboto" panose="02000000000000000000"/>
              <a:cs typeface="Roboto" panose="02000000000000000000"/>
            </a:endParaRPr>
          </a:p>
        </p:txBody>
      </p:sp>
      <p:sp>
        <p:nvSpPr>
          <p:cNvPr id="5" name="副标题 4"/>
          <p:cNvSpPr>
            <a:spLocks noGrp="1"/>
          </p:cNvSpPr>
          <p:nvPr>
            <p:ph type="subTitle" idx="1"/>
          </p:nvPr>
        </p:nvSpPr>
        <p:spPr>
          <a:xfrm>
            <a:off x="1524000" y="5109845"/>
            <a:ext cx="9144000" cy="1078865"/>
          </a:xfrm>
        </p:spPr>
        <p:txBody>
          <a:bodyPr anchor="ctr" anchorCtr="0"/>
          <a:lstStyle/>
          <a:p>
            <a:r>
              <a:rPr lang="x-none" altLang="zh-CN" b="1" i="1">
                <a:latin typeface="FreeSerif" panose="02020603050405020304"/>
                <a:ea typeface="等线"/>
                <a:cs typeface="FreeSerif" panose="02020603050405020304" charset="0"/>
              </a:rPr>
              <a:t>Emmanuel Olateju</a:t>
            </a:r>
            <a:endParaRPr lang="x-none" altLang="zh-CN" b="1" i="1">
              <a:latin typeface="FreeSerif" panose="02020603050405020304"/>
              <a:ea typeface="等线"/>
              <a:cs typeface="FreeSerif" panose="02020603050405020304" charset="0"/>
            </a:endParaRPr>
          </a:p>
        </p:txBody>
      </p:sp>
      <p:sp>
        <p:nvSpPr>
          <p:cNvPr id="6" name="Text Box 5"/>
          <p:cNvSpPr txBox="1"/>
          <p:nvPr/>
        </p:nvSpPr>
        <p:spPr>
          <a:xfrm>
            <a:off x="5671503" y="4385945"/>
            <a:ext cx="848995" cy="245110"/>
          </a:xfrm>
          <a:prstGeom prst="rect">
            <a:avLst/>
          </a:prstGeom>
          <a:noFill/>
        </p:spPr>
        <p:txBody>
          <a:bodyPr wrap="none" rtlCol="0">
            <a:spAutoFit/>
          </a:bodyPr>
          <a:p>
            <a:pPr algn="ctr"/>
            <a:r>
              <a:rPr lang="en-US" sz="1000" i="1">
                <a:latin typeface="FreeSerif" panose="02020603050405020304" charset="0"/>
                <a:cs typeface="FreeSerif" panose="02020603050405020304" charset="0"/>
              </a:rPr>
              <a:t>Presented By</a:t>
            </a:r>
            <a:endParaRPr lang="en-US" sz="1000" i="1">
              <a:latin typeface="FreeSerif" panose="02020603050405020304" charset="0"/>
              <a:cs typeface="FreeSerif"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4479290" y="146050"/>
            <a:ext cx="3234055" cy="368300"/>
          </a:xfrm>
          <a:prstGeom prst="rect">
            <a:avLst/>
          </a:prstGeom>
          <a:noFill/>
        </p:spPr>
        <p:txBody>
          <a:bodyPr wrap="square" lIns="91440" tIns="45720" rIns="91440" bIns="45720" rtlCol="0" anchor="t">
            <a:spAutoFit/>
          </a:bodyPr>
          <a:lstStyle/>
          <a:p>
            <a:pPr algn="ctr"/>
            <a:r>
              <a:rPr lang="en-US" altLang="en-US" b="1" i="1" dirty="0">
                <a:latin typeface="FreeSerif" panose="02020603050405020304"/>
              </a:rPr>
              <a:t>The MLP Assumption</a:t>
            </a:r>
            <a:endParaRPr lang="en-US" altLang="en-US" b="1" i="1" dirty="0">
              <a:latin typeface="FreeSerif" panose="02020603050405020304"/>
            </a:endParaRPr>
          </a:p>
        </p:txBody>
      </p:sp>
      <p:pic>
        <p:nvPicPr>
          <p:cNvPr id="10" name="Picture 9"/>
          <p:cNvPicPr>
            <a:picLocks noChangeAspect="1"/>
          </p:cNvPicPr>
          <p:nvPr/>
        </p:nvPicPr>
        <p:blipFill>
          <a:blip r:embed="rId1"/>
          <a:stretch>
            <a:fillRect/>
          </a:stretch>
        </p:blipFill>
        <p:spPr>
          <a:xfrm>
            <a:off x="189865" y="1123315"/>
            <a:ext cx="2528570" cy="756285"/>
          </a:xfrm>
          <a:prstGeom prst="rect">
            <a:avLst/>
          </a:prstGeom>
        </p:spPr>
      </p:pic>
      <p:sp>
        <p:nvSpPr>
          <p:cNvPr id="12" name="Text Box 11"/>
          <p:cNvSpPr txBox="1"/>
          <p:nvPr/>
        </p:nvSpPr>
        <p:spPr>
          <a:xfrm>
            <a:off x="189865" y="790575"/>
            <a:ext cx="2528570" cy="368300"/>
          </a:xfrm>
          <a:prstGeom prst="rect">
            <a:avLst/>
          </a:prstGeom>
          <a:solidFill>
            <a:schemeClr val="tx1"/>
          </a:solidFill>
        </p:spPr>
        <p:txBody>
          <a:bodyPr wrap="square" rtlCol="0">
            <a:spAutoFit/>
          </a:bodyPr>
          <a:p>
            <a:pPr algn="ctr"/>
            <a:r>
              <a:rPr lang="en-US" altLang="en-US">
                <a:solidFill>
                  <a:schemeClr val="bg1"/>
                </a:solidFill>
                <a:latin typeface="FreeSerif" panose="02020603050405020304" charset="0"/>
                <a:cs typeface="FreeSerif" panose="02020603050405020304" charset="0"/>
              </a:rPr>
              <a:t>MLP</a:t>
            </a:r>
            <a:endParaRPr lang="en-US" altLang="en-US">
              <a:solidFill>
                <a:schemeClr val="bg1"/>
              </a:solidFill>
              <a:latin typeface="FreeSerif" panose="02020603050405020304" charset="0"/>
              <a:cs typeface="FreeSerif" panose="02020603050405020304" charset="0"/>
            </a:endParaRPr>
          </a:p>
        </p:txBody>
      </p:sp>
      <p:sp>
        <p:nvSpPr>
          <p:cNvPr id="14" name="Text Box 13"/>
          <p:cNvSpPr txBox="1"/>
          <p:nvPr/>
        </p:nvSpPr>
        <p:spPr>
          <a:xfrm>
            <a:off x="189865" y="2092960"/>
            <a:ext cx="2528570" cy="368300"/>
          </a:xfrm>
          <a:prstGeom prst="rect">
            <a:avLst/>
          </a:prstGeom>
          <a:solidFill>
            <a:schemeClr val="tx1"/>
          </a:solidFill>
        </p:spPr>
        <p:txBody>
          <a:bodyPr wrap="square" rtlCol="0">
            <a:spAutoFit/>
          </a:bodyPr>
          <a:p>
            <a:pPr algn="ctr"/>
            <a:r>
              <a:rPr lang="en-US" altLang="en-US">
                <a:solidFill>
                  <a:schemeClr val="bg1"/>
                </a:solidFill>
                <a:latin typeface="FreeSerif" panose="02020603050405020304" charset="0"/>
                <a:cs typeface="FreeSerif" panose="02020603050405020304" charset="0"/>
              </a:rPr>
              <a:t>KAN</a:t>
            </a:r>
            <a:endParaRPr lang="en-US" altLang="en-US">
              <a:solidFill>
                <a:schemeClr val="bg1"/>
              </a:solidFill>
              <a:latin typeface="FreeSerif" panose="02020603050405020304" charset="0"/>
              <a:cs typeface="FreeSerif" panose="02020603050405020304" charset="0"/>
            </a:endParaRPr>
          </a:p>
        </p:txBody>
      </p:sp>
      <p:sp>
        <p:nvSpPr>
          <p:cNvPr id="15" name="Text Box 14"/>
          <p:cNvSpPr txBox="1"/>
          <p:nvPr/>
        </p:nvSpPr>
        <p:spPr>
          <a:xfrm>
            <a:off x="3308350" y="852170"/>
            <a:ext cx="1707515" cy="245110"/>
          </a:xfrm>
          <a:prstGeom prst="rect">
            <a:avLst/>
          </a:prstGeom>
          <a:noFill/>
          <a:ln>
            <a:solidFill>
              <a:schemeClr val="tx1"/>
            </a:solidFill>
          </a:ln>
        </p:spPr>
        <p:txBody>
          <a:bodyPr wrap="square" rtlCol="0">
            <a:spAutoFit/>
          </a:bodyPr>
          <a:p>
            <a:r>
              <a:rPr lang="en-US" altLang="en-US" sz="1000">
                <a:latin typeface="FreeSerif" panose="02020603050405020304" charset="0"/>
                <a:cs typeface="FreeSerif" panose="02020603050405020304" charset="0"/>
              </a:rPr>
              <a:t>Linear weights on edges</a:t>
            </a:r>
            <a:endParaRPr lang="en-US" altLang="en-US" sz="1000">
              <a:latin typeface="FreeSerif" panose="02020603050405020304" charset="0"/>
              <a:cs typeface="FreeSerif" panose="02020603050405020304" charset="0"/>
            </a:endParaRPr>
          </a:p>
        </p:txBody>
      </p:sp>
      <p:sp>
        <p:nvSpPr>
          <p:cNvPr id="16" name="Text Box 15"/>
          <p:cNvSpPr txBox="1"/>
          <p:nvPr/>
        </p:nvSpPr>
        <p:spPr>
          <a:xfrm>
            <a:off x="3296285" y="1265555"/>
            <a:ext cx="1719580" cy="398780"/>
          </a:xfrm>
          <a:prstGeom prst="rect">
            <a:avLst/>
          </a:prstGeom>
          <a:noFill/>
          <a:ln>
            <a:solidFill>
              <a:schemeClr val="tx1"/>
            </a:solidFill>
          </a:ln>
        </p:spPr>
        <p:txBody>
          <a:bodyPr wrap="square" rtlCol="0">
            <a:spAutoFit/>
          </a:bodyPr>
          <a:p>
            <a:r>
              <a:rPr lang="en-US" altLang="en-US" sz="1000">
                <a:latin typeface="FreeSerif" panose="02020603050405020304" charset="0"/>
                <a:cs typeface="FreeSerif" panose="02020603050405020304" charset="0"/>
              </a:rPr>
              <a:t>Non-linear activation on</a:t>
            </a:r>
            <a:br>
              <a:rPr lang="en-US" altLang="en-US" sz="1000">
                <a:latin typeface="FreeSerif" panose="02020603050405020304" charset="0"/>
                <a:cs typeface="FreeSerif" panose="02020603050405020304" charset="0"/>
              </a:rPr>
            </a:br>
            <a:r>
              <a:rPr lang="en-US" altLang="en-US" sz="1000">
                <a:latin typeface="FreeSerif" panose="02020603050405020304" charset="0"/>
                <a:cs typeface="FreeSerif" panose="02020603050405020304" charset="0"/>
              </a:rPr>
              <a:t>nodes</a:t>
            </a:r>
            <a:endParaRPr lang="en-US" altLang="en-US" sz="1000">
              <a:latin typeface="FreeSerif" panose="02020603050405020304" charset="0"/>
              <a:cs typeface="FreeSerif" panose="02020603050405020304" charset="0"/>
            </a:endParaRPr>
          </a:p>
        </p:txBody>
      </p:sp>
      <p:cxnSp>
        <p:nvCxnSpPr>
          <p:cNvPr id="17" name="Straight Arrow Connector 16"/>
          <p:cNvCxnSpPr>
            <a:stCxn id="12" idx="3"/>
            <a:endCxn id="15" idx="1"/>
          </p:cNvCxnSpPr>
          <p:nvPr/>
        </p:nvCxnSpPr>
        <p:spPr>
          <a:xfrm>
            <a:off x="2727960" y="974725"/>
            <a:ext cx="589915" cy="0"/>
          </a:xfrm>
          <a:prstGeom prst="straightConnector1">
            <a:avLst/>
          </a:prstGeom>
          <a:ln>
            <a:tailEnd type="triangle" w="med" len="med"/>
          </a:ln>
        </p:spPr>
        <p:style>
          <a:lnRef idx="1">
            <a:schemeClr val="dk1"/>
          </a:lnRef>
          <a:fillRef idx="0">
            <a:schemeClr val="dk1"/>
          </a:fillRef>
          <a:effectRef idx="0">
            <a:schemeClr val="dk1"/>
          </a:effectRef>
          <a:fontRef idx="minor">
            <a:schemeClr val="tx1"/>
          </a:fontRef>
        </p:style>
      </p:cxnSp>
      <p:cxnSp>
        <p:nvCxnSpPr>
          <p:cNvPr id="18" name="Elbow Connector 17"/>
          <p:cNvCxnSpPr>
            <a:stCxn id="12" idx="3"/>
          </p:cNvCxnSpPr>
          <p:nvPr/>
        </p:nvCxnSpPr>
        <p:spPr>
          <a:xfrm>
            <a:off x="2727960" y="974725"/>
            <a:ext cx="577850" cy="526415"/>
          </a:xfrm>
          <a:prstGeom prst="bentConnector3">
            <a:avLst>
              <a:gd name="adj1" fmla="val 50000"/>
            </a:avLst>
          </a:prstGeom>
          <a:ln>
            <a:tailEnd type="triangle" w="med" len="med"/>
          </a:ln>
        </p:spPr>
        <p:style>
          <a:lnRef idx="1">
            <a:schemeClr val="dk1"/>
          </a:lnRef>
          <a:fillRef idx="0">
            <a:schemeClr val="dk1"/>
          </a:fillRef>
          <a:effectRef idx="0">
            <a:schemeClr val="dk1"/>
          </a:effectRef>
          <a:fontRef idx="minor">
            <a:schemeClr val="tx1"/>
          </a:fontRef>
        </p:style>
      </p:cxnSp>
      <p:sp>
        <p:nvSpPr>
          <p:cNvPr id="19" name="Text Box 18"/>
          <p:cNvSpPr txBox="1"/>
          <p:nvPr/>
        </p:nvSpPr>
        <p:spPr>
          <a:xfrm>
            <a:off x="3292475" y="2077720"/>
            <a:ext cx="1670685" cy="398780"/>
          </a:xfrm>
          <a:prstGeom prst="rect">
            <a:avLst/>
          </a:prstGeom>
          <a:noFill/>
          <a:ln>
            <a:solidFill>
              <a:schemeClr val="tx1"/>
            </a:solidFill>
          </a:ln>
        </p:spPr>
        <p:txBody>
          <a:bodyPr wrap="square" rtlCol="0">
            <a:spAutoFit/>
          </a:bodyPr>
          <a:p>
            <a:r>
              <a:rPr lang="en-US" altLang="en-US" sz="1000">
                <a:latin typeface="FreeSerif" panose="02020603050405020304" charset="0"/>
                <a:cs typeface="FreeSerif" panose="02020603050405020304" charset="0"/>
              </a:rPr>
              <a:t>Learnable activation     </a:t>
            </a:r>
            <a:endParaRPr lang="en-US" altLang="en-US" sz="1000">
              <a:latin typeface="FreeSerif" panose="02020603050405020304" charset="0"/>
              <a:cs typeface="FreeSerif" panose="02020603050405020304" charset="0"/>
            </a:endParaRPr>
          </a:p>
          <a:p>
            <a:r>
              <a:rPr lang="en-US" altLang="en-US" sz="1000">
                <a:latin typeface="FreeSerif" panose="02020603050405020304" charset="0"/>
                <a:cs typeface="FreeSerif" panose="02020603050405020304" charset="0"/>
              </a:rPr>
              <a:t>functions on edges</a:t>
            </a:r>
            <a:endParaRPr lang="en-US" altLang="en-US" sz="1000">
              <a:latin typeface="FreeSerif" panose="02020603050405020304" charset="0"/>
              <a:cs typeface="FreeSerif" panose="02020603050405020304" charset="0"/>
            </a:endParaRPr>
          </a:p>
        </p:txBody>
      </p:sp>
      <p:sp>
        <p:nvSpPr>
          <p:cNvPr id="20" name="Text Box 19"/>
          <p:cNvSpPr txBox="1"/>
          <p:nvPr/>
        </p:nvSpPr>
        <p:spPr>
          <a:xfrm>
            <a:off x="3296285" y="2905760"/>
            <a:ext cx="1684020" cy="553085"/>
          </a:xfrm>
          <a:prstGeom prst="rect">
            <a:avLst/>
          </a:prstGeom>
          <a:noFill/>
          <a:ln>
            <a:solidFill>
              <a:schemeClr val="tx1"/>
            </a:solidFill>
          </a:ln>
        </p:spPr>
        <p:txBody>
          <a:bodyPr wrap="square" rtlCol="0">
            <a:spAutoFit/>
          </a:bodyPr>
          <a:p>
            <a:r>
              <a:rPr lang="en-US" altLang="en-US" sz="1000">
                <a:latin typeface="FreeSerif" panose="02020603050405020304" charset="0"/>
                <a:cs typeface="FreeSerif" panose="02020603050405020304" charset="0"/>
              </a:rPr>
              <a:t>Nodes perform simple  </a:t>
            </a:r>
            <a:br>
              <a:rPr lang="en-US" altLang="en-US" sz="1000">
                <a:latin typeface="FreeSerif" panose="02020603050405020304" charset="0"/>
                <a:cs typeface="FreeSerif" panose="02020603050405020304" charset="0"/>
              </a:rPr>
            </a:br>
            <a:r>
              <a:rPr lang="en-US" altLang="en-US" sz="1000">
                <a:latin typeface="FreeSerif" panose="02020603050405020304" charset="0"/>
                <a:cs typeface="FreeSerif" panose="02020603050405020304" charset="0"/>
              </a:rPr>
              <a:t>summation without </a:t>
            </a:r>
            <a:br>
              <a:rPr lang="en-US" altLang="en-US" sz="1000">
                <a:latin typeface="FreeSerif" panose="02020603050405020304" charset="0"/>
                <a:cs typeface="FreeSerif" panose="02020603050405020304" charset="0"/>
              </a:rPr>
            </a:br>
            <a:r>
              <a:rPr lang="en-US" altLang="en-US" sz="1000">
                <a:latin typeface="FreeSerif" panose="02020603050405020304" charset="0"/>
                <a:cs typeface="FreeSerif" panose="02020603050405020304" charset="0"/>
              </a:rPr>
              <a:t>non-linearitues</a:t>
            </a:r>
            <a:endParaRPr lang="en-US" altLang="en-US" sz="1000">
              <a:latin typeface="FreeSerif" panose="02020603050405020304" charset="0"/>
              <a:cs typeface="FreeSerif" panose="02020603050405020304" charset="0"/>
            </a:endParaRPr>
          </a:p>
        </p:txBody>
      </p:sp>
      <p:cxnSp>
        <p:nvCxnSpPr>
          <p:cNvPr id="23" name="Straight Arrow Connector 22"/>
          <p:cNvCxnSpPr>
            <a:stCxn id="14" idx="3"/>
            <a:endCxn id="19" idx="1"/>
          </p:cNvCxnSpPr>
          <p:nvPr/>
        </p:nvCxnSpPr>
        <p:spPr>
          <a:xfrm>
            <a:off x="2727960" y="2277110"/>
            <a:ext cx="574040" cy="0"/>
          </a:xfrm>
          <a:prstGeom prst="straightConnector1">
            <a:avLst/>
          </a:prstGeom>
          <a:ln>
            <a:tailEnd type="triangle" w="med" len="med"/>
          </a:ln>
        </p:spPr>
        <p:style>
          <a:lnRef idx="1">
            <a:schemeClr val="dk1"/>
          </a:lnRef>
          <a:fillRef idx="0">
            <a:schemeClr val="dk1"/>
          </a:fillRef>
          <a:effectRef idx="0">
            <a:schemeClr val="dk1"/>
          </a:effectRef>
          <a:fontRef idx="minor">
            <a:schemeClr val="tx1"/>
          </a:fontRef>
        </p:style>
      </p:cxnSp>
      <p:cxnSp>
        <p:nvCxnSpPr>
          <p:cNvPr id="24" name="Elbow Connector 23"/>
          <p:cNvCxnSpPr>
            <a:stCxn id="14" idx="3"/>
            <a:endCxn id="20" idx="1"/>
          </p:cNvCxnSpPr>
          <p:nvPr/>
        </p:nvCxnSpPr>
        <p:spPr>
          <a:xfrm>
            <a:off x="2727960" y="2277110"/>
            <a:ext cx="577850" cy="905510"/>
          </a:xfrm>
          <a:prstGeom prst="bentConnector3">
            <a:avLst>
              <a:gd name="adj1" fmla="val 50000"/>
            </a:avLst>
          </a:prstGeom>
          <a:ln>
            <a:solidFill>
              <a:srgbClr val="202020"/>
            </a:solidFill>
            <a:tailEnd type="triangle"/>
          </a:ln>
        </p:spPr>
        <p:style>
          <a:lnRef idx="1">
            <a:schemeClr val="accent1"/>
          </a:lnRef>
          <a:fillRef idx="0">
            <a:schemeClr val="accent1"/>
          </a:fillRef>
          <a:effectRef idx="0">
            <a:schemeClr val="accent1"/>
          </a:effectRef>
          <a:fontRef idx="minor">
            <a:schemeClr val="tx1"/>
          </a:fontRef>
        </p:style>
      </p:cxnSp>
      <p:sp>
        <p:nvSpPr>
          <p:cNvPr id="25" name="Text Box 24"/>
          <p:cNvSpPr txBox="1"/>
          <p:nvPr/>
        </p:nvSpPr>
        <p:spPr>
          <a:xfrm>
            <a:off x="4453573" y="4278630"/>
            <a:ext cx="1192530" cy="521970"/>
          </a:xfrm>
          <a:prstGeom prst="rect">
            <a:avLst/>
          </a:prstGeom>
          <a:solidFill>
            <a:schemeClr val="tx1"/>
          </a:solidFill>
          <a:ln>
            <a:solidFill>
              <a:schemeClr val="tx1"/>
            </a:solidFill>
          </a:ln>
        </p:spPr>
        <p:txBody>
          <a:bodyPr wrap="none" rtlCol="0">
            <a:spAutoFit/>
          </a:bodyPr>
          <a:p>
            <a:pPr algn="ctr"/>
            <a:r>
              <a:rPr lang="en-US" altLang="en-US" sz="1400">
                <a:solidFill>
                  <a:schemeClr val="bg1"/>
                </a:solidFill>
                <a:latin typeface="FreeSerif" panose="02020603050405020304" charset="0"/>
                <a:cs typeface="FreeSerif" panose="02020603050405020304" charset="0"/>
              </a:rPr>
              <a:t>LOCAL </a:t>
            </a:r>
            <a:br>
              <a:rPr lang="en-US" altLang="en-US" sz="1400">
                <a:solidFill>
                  <a:schemeClr val="bg1"/>
                </a:solidFill>
                <a:latin typeface="FreeSerif" panose="02020603050405020304" charset="0"/>
                <a:cs typeface="FreeSerif" panose="02020603050405020304" charset="0"/>
              </a:rPr>
            </a:br>
            <a:r>
              <a:rPr lang="en-US" altLang="en-US" sz="1400">
                <a:solidFill>
                  <a:schemeClr val="bg1"/>
                </a:solidFill>
                <a:latin typeface="FreeSerif" panose="02020603050405020304" charset="0"/>
                <a:cs typeface="FreeSerif" panose="02020603050405020304" charset="0"/>
              </a:rPr>
              <a:t>PLASTICITY</a:t>
            </a:r>
            <a:endParaRPr lang="en-US" altLang="en-US" sz="1400">
              <a:solidFill>
                <a:schemeClr val="bg1"/>
              </a:solidFill>
              <a:latin typeface="FreeSerif" panose="02020603050405020304" charset="0"/>
              <a:cs typeface="FreeSerif" panose="02020603050405020304" charset="0"/>
            </a:endParaRPr>
          </a:p>
        </p:txBody>
      </p:sp>
      <p:sp>
        <p:nvSpPr>
          <p:cNvPr id="26" name="Text Box 25"/>
          <p:cNvSpPr txBox="1"/>
          <p:nvPr/>
        </p:nvSpPr>
        <p:spPr>
          <a:xfrm>
            <a:off x="3923665" y="5594350"/>
            <a:ext cx="920750" cy="645160"/>
          </a:xfrm>
          <a:prstGeom prst="rect">
            <a:avLst/>
          </a:prstGeom>
          <a:solidFill>
            <a:schemeClr val="accent6"/>
          </a:solidFill>
          <a:ln>
            <a:solidFill>
              <a:schemeClr val="tx1"/>
            </a:solidFill>
          </a:ln>
        </p:spPr>
        <p:txBody>
          <a:bodyPr wrap="square" rtlCol="0">
            <a:spAutoFit/>
          </a:bodyPr>
          <a:p>
            <a:pPr algn="ctr"/>
            <a:r>
              <a:rPr lang="en-US" altLang="en-US" sz="1200">
                <a:solidFill>
                  <a:schemeClr val="bg1"/>
                </a:solidFill>
                <a:latin typeface="FreeSerif" panose="02020603050405020304" charset="0"/>
                <a:cs typeface="FreeSerif" panose="02020603050405020304" charset="0"/>
              </a:rPr>
              <a:t>Localized B-spline updates</a:t>
            </a:r>
            <a:endParaRPr lang="en-US" altLang="en-US" sz="1200">
              <a:solidFill>
                <a:schemeClr val="bg1"/>
              </a:solidFill>
              <a:latin typeface="FreeSerif" panose="02020603050405020304" charset="0"/>
              <a:cs typeface="FreeSerif" panose="02020603050405020304" charset="0"/>
            </a:endParaRPr>
          </a:p>
        </p:txBody>
      </p:sp>
      <p:sp>
        <p:nvSpPr>
          <p:cNvPr id="27" name="Text Box 26"/>
          <p:cNvSpPr txBox="1"/>
          <p:nvPr/>
        </p:nvSpPr>
        <p:spPr>
          <a:xfrm>
            <a:off x="5410200" y="5594350"/>
            <a:ext cx="874395" cy="460375"/>
          </a:xfrm>
          <a:prstGeom prst="rect">
            <a:avLst/>
          </a:prstGeom>
          <a:solidFill>
            <a:srgbClr val="FF0000"/>
          </a:solidFill>
          <a:ln>
            <a:solidFill>
              <a:schemeClr val="tx1"/>
            </a:solidFill>
          </a:ln>
        </p:spPr>
        <p:txBody>
          <a:bodyPr wrap="none" rtlCol="0">
            <a:spAutoFit/>
          </a:bodyPr>
          <a:p>
            <a:pPr algn="ctr"/>
            <a:r>
              <a:rPr lang="en-US" altLang="en-US" sz="1200">
                <a:solidFill>
                  <a:schemeClr val="bg1"/>
                </a:solidFill>
                <a:latin typeface="FreeSerif" panose="02020603050405020304" charset="0"/>
                <a:cs typeface="FreeSerif" panose="02020603050405020304" charset="0"/>
              </a:rPr>
              <a:t>Global </a:t>
            </a:r>
            <a:br>
              <a:rPr lang="en-US" altLang="en-US" sz="1200">
                <a:solidFill>
                  <a:schemeClr val="bg1"/>
                </a:solidFill>
                <a:latin typeface="FreeSerif" panose="02020603050405020304" charset="0"/>
                <a:cs typeface="FreeSerif" panose="02020603050405020304" charset="0"/>
              </a:rPr>
            </a:br>
            <a:r>
              <a:rPr lang="en-US" altLang="en-US" sz="1200">
                <a:solidFill>
                  <a:schemeClr val="bg1"/>
                </a:solidFill>
                <a:latin typeface="FreeSerif" panose="02020603050405020304" charset="0"/>
                <a:cs typeface="FreeSerif" panose="02020603050405020304" charset="0"/>
              </a:rPr>
              <a:t>Activations</a:t>
            </a:r>
            <a:endParaRPr lang="en-US" altLang="en-US" sz="1200">
              <a:solidFill>
                <a:schemeClr val="bg1"/>
              </a:solidFill>
              <a:latin typeface="FreeSerif" panose="02020603050405020304" charset="0"/>
              <a:cs typeface="FreeSerif" panose="02020603050405020304" charset="0"/>
            </a:endParaRPr>
          </a:p>
        </p:txBody>
      </p:sp>
      <p:pic>
        <p:nvPicPr>
          <p:cNvPr id="31" name="Picture 30"/>
          <p:cNvPicPr>
            <a:picLocks noChangeAspect="1"/>
          </p:cNvPicPr>
          <p:nvPr/>
        </p:nvPicPr>
        <p:blipFill>
          <a:blip r:embed="rId2"/>
          <a:stretch>
            <a:fillRect/>
          </a:stretch>
        </p:blipFill>
        <p:spPr>
          <a:xfrm>
            <a:off x="172720" y="2454275"/>
            <a:ext cx="2545715" cy="550545"/>
          </a:xfrm>
          <a:prstGeom prst="rect">
            <a:avLst/>
          </a:prstGeom>
        </p:spPr>
      </p:pic>
      <p:sp>
        <p:nvSpPr>
          <p:cNvPr id="37" name="Text Box 36"/>
          <p:cNvSpPr txBox="1"/>
          <p:nvPr/>
        </p:nvSpPr>
        <p:spPr>
          <a:xfrm>
            <a:off x="719455" y="4278630"/>
            <a:ext cx="1677035" cy="521970"/>
          </a:xfrm>
          <a:prstGeom prst="rect">
            <a:avLst/>
          </a:prstGeom>
          <a:solidFill>
            <a:schemeClr val="tx1"/>
          </a:solidFill>
          <a:ln>
            <a:solidFill>
              <a:schemeClr val="tx1"/>
            </a:solidFill>
          </a:ln>
        </p:spPr>
        <p:txBody>
          <a:bodyPr wrap="none" rtlCol="0">
            <a:spAutoFit/>
          </a:bodyPr>
          <a:p>
            <a:pPr algn="ctr"/>
            <a:r>
              <a:rPr lang="en-US" altLang="en-US" sz="1400">
                <a:solidFill>
                  <a:schemeClr val="bg1"/>
                </a:solidFill>
                <a:latin typeface="FreeSerif" panose="02020603050405020304" charset="0"/>
                <a:cs typeface="FreeSerif" panose="02020603050405020304" charset="0"/>
              </a:rPr>
              <a:t>COMPOSITIONAL </a:t>
            </a:r>
            <a:br>
              <a:rPr lang="en-US" altLang="en-US" sz="1400">
                <a:solidFill>
                  <a:schemeClr val="bg1"/>
                </a:solidFill>
                <a:latin typeface="FreeSerif" panose="02020603050405020304" charset="0"/>
                <a:cs typeface="FreeSerif" panose="02020603050405020304" charset="0"/>
              </a:rPr>
            </a:br>
            <a:r>
              <a:rPr lang="en-US" altLang="en-US" sz="1400">
                <a:solidFill>
                  <a:schemeClr val="bg1"/>
                </a:solidFill>
                <a:latin typeface="FreeSerif" panose="02020603050405020304" charset="0"/>
                <a:cs typeface="FreeSerif" panose="02020603050405020304" charset="0"/>
              </a:rPr>
              <a:t>STRUCTURE</a:t>
            </a:r>
            <a:endParaRPr lang="en-US" altLang="en-US" sz="1400">
              <a:solidFill>
                <a:schemeClr val="bg1"/>
              </a:solidFill>
              <a:latin typeface="FreeSerif" panose="02020603050405020304" charset="0"/>
              <a:cs typeface="FreeSerif" panose="02020603050405020304" charset="0"/>
            </a:endParaRPr>
          </a:p>
        </p:txBody>
      </p:sp>
      <p:sp>
        <p:nvSpPr>
          <p:cNvPr id="38" name="Text Box 37"/>
          <p:cNvSpPr txBox="1"/>
          <p:nvPr/>
        </p:nvSpPr>
        <p:spPr>
          <a:xfrm>
            <a:off x="19685" y="5594350"/>
            <a:ext cx="1371600" cy="460375"/>
          </a:xfrm>
          <a:prstGeom prst="rect">
            <a:avLst/>
          </a:prstGeom>
          <a:solidFill>
            <a:schemeClr val="accent6"/>
          </a:solidFill>
          <a:ln>
            <a:solidFill>
              <a:schemeClr val="tx1"/>
            </a:solidFill>
          </a:ln>
        </p:spPr>
        <p:txBody>
          <a:bodyPr wrap="square" rtlCol="0">
            <a:spAutoFit/>
          </a:bodyPr>
          <a:p>
            <a:pPr algn="ctr"/>
            <a:r>
              <a:rPr lang="en-US" altLang="en-US" sz="1200">
                <a:solidFill>
                  <a:schemeClr val="bg1"/>
                </a:solidFill>
                <a:latin typeface="FreeSerif" panose="02020603050405020304" charset="0"/>
                <a:cs typeface="FreeSerif" panose="02020603050405020304" charset="0"/>
              </a:rPr>
              <a:t>Hierarchical 1D Functions</a:t>
            </a:r>
            <a:endParaRPr lang="en-US" altLang="en-US" sz="1200">
              <a:solidFill>
                <a:schemeClr val="bg1"/>
              </a:solidFill>
              <a:latin typeface="FreeSerif" panose="02020603050405020304" charset="0"/>
              <a:cs typeface="FreeSerif" panose="02020603050405020304" charset="0"/>
            </a:endParaRPr>
          </a:p>
        </p:txBody>
      </p:sp>
      <p:sp>
        <p:nvSpPr>
          <p:cNvPr id="39" name="Text Box 38"/>
          <p:cNvSpPr txBox="1"/>
          <p:nvPr/>
        </p:nvSpPr>
        <p:spPr>
          <a:xfrm>
            <a:off x="1853883" y="5594350"/>
            <a:ext cx="1648460" cy="460375"/>
          </a:xfrm>
          <a:prstGeom prst="rect">
            <a:avLst/>
          </a:prstGeom>
          <a:solidFill>
            <a:srgbClr val="FF0000"/>
          </a:solidFill>
          <a:ln>
            <a:solidFill>
              <a:schemeClr val="tx1"/>
            </a:solidFill>
          </a:ln>
        </p:spPr>
        <p:txBody>
          <a:bodyPr wrap="none" rtlCol="0">
            <a:spAutoFit/>
          </a:bodyPr>
          <a:p>
            <a:pPr algn="ctr"/>
            <a:r>
              <a:rPr lang="en-US" altLang="en-US" sz="1200">
                <a:solidFill>
                  <a:schemeClr val="bg1"/>
                </a:solidFill>
                <a:latin typeface="FreeSerif" panose="02020603050405020304" charset="0"/>
                <a:cs typeface="FreeSerif" panose="02020603050405020304" charset="0"/>
              </a:rPr>
              <a:t>Arbitrary d-dimensional</a:t>
            </a:r>
            <a:endParaRPr lang="en-US" altLang="en-US" sz="1200">
              <a:solidFill>
                <a:schemeClr val="bg1"/>
              </a:solidFill>
              <a:latin typeface="FreeSerif" panose="02020603050405020304" charset="0"/>
              <a:cs typeface="FreeSerif" panose="02020603050405020304" charset="0"/>
            </a:endParaRPr>
          </a:p>
          <a:p>
            <a:pPr algn="ctr"/>
            <a:r>
              <a:rPr lang="en-US" altLang="en-US" sz="1200">
                <a:solidFill>
                  <a:schemeClr val="bg1"/>
                </a:solidFill>
                <a:latin typeface="FreeSerif" panose="02020603050405020304" charset="0"/>
                <a:cs typeface="FreeSerif" panose="02020603050405020304" charset="0"/>
              </a:rPr>
              <a:t>Functions</a:t>
            </a:r>
            <a:endParaRPr lang="en-US" altLang="en-US" sz="1200">
              <a:solidFill>
                <a:schemeClr val="bg1"/>
              </a:solidFill>
              <a:latin typeface="FreeSerif" panose="02020603050405020304" charset="0"/>
              <a:cs typeface="FreeSerif" panose="02020603050405020304" charset="0"/>
            </a:endParaRPr>
          </a:p>
        </p:txBody>
      </p:sp>
      <p:cxnSp>
        <p:nvCxnSpPr>
          <p:cNvPr id="42" name="Elbow Connector 41"/>
          <p:cNvCxnSpPr>
            <a:stCxn id="37" idx="2"/>
            <a:endCxn id="38" idx="0"/>
          </p:cNvCxnSpPr>
          <p:nvPr/>
        </p:nvCxnSpPr>
        <p:spPr>
          <a:xfrm rot="5400000">
            <a:off x="744538" y="4771073"/>
            <a:ext cx="793750" cy="852805"/>
          </a:xfrm>
          <a:prstGeom prst="bentConnector3">
            <a:avLst>
              <a:gd name="adj1" fmla="val 49960"/>
            </a:avLst>
          </a:prstGeom>
          <a:ln>
            <a:tailEnd type="triangle" w="med" len="med"/>
          </a:ln>
        </p:spPr>
        <p:style>
          <a:lnRef idx="1">
            <a:schemeClr val="dk1"/>
          </a:lnRef>
          <a:fillRef idx="0">
            <a:schemeClr val="dk1"/>
          </a:fillRef>
          <a:effectRef idx="0">
            <a:schemeClr val="dk1"/>
          </a:effectRef>
          <a:fontRef idx="minor">
            <a:schemeClr val="tx1"/>
          </a:fontRef>
        </p:style>
      </p:cxnSp>
      <p:cxnSp>
        <p:nvCxnSpPr>
          <p:cNvPr id="44" name="Elbow Connector 43"/>
          <p:cNvCxnSpPr>
            <a:stCxn id="37" idx="2"/>
            <a:endCxn id="39" idx="0"/>
          </p:cNvCxnSpPr>
          <p:nvPr/>
        </p:nvCxnSpPr>
        <p:spPr>
          <a:xfrm rot="5400000" flipV="1">
            <a:off x="1731010" y="4637405"/>
            <a:ext cx="793750" cy="112014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p:cNvCxnSpPr>
            <a:stCxn id="25" idx="2"/>
            <a:endCxn id="26" idx="0"/>
          </p:cNvCxnSpPr>
          <p:nvPr/>
        </p:nvCxnSpPr>
        <p:spPr>
          <a:xfrm rot="5400000">
            <a:off x="4329748" y="4864418"/>
            <a:ext cx="793750" cy="666115"/>
          </a:xfrm>
          <a:prstGeom prst="bentConnector3">
            <a:avLst>
              <a:gd name="adj1" fmla="val 4996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Elbow Connector 45"/>
          <p:cNvCxnSpPr>
            <a:stCxn id="25" idx="2"/>
            <a:endCxn id="27" idx="0"/>
          </p:cNvCxnSpPr>
          <p:nvPr/>
        </p:nvCxnSpPr>
        <p:spPr>
          <a:xfrm rot="5400000" flipV="1">
            <a:off x="5061585" y="4798695"/>
            <a:ext cx="793750" cy="7975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a:off x="6628765" y="708660"/>
            <a:ext cx="10160" cy="5659755"/>
          </a:xfrm>
          <a:prstGeom prst="line">
            <a:avLst/>
          </a:prstGeom>
          <a:ln>
            <a:solidFill>
              <a:schemeClr val="tx1"/>
            </a:solidFill>
            <a:prstDash val="lgDashDotDot"/>
          </a:ln>
        </p:spPr>
        <p:style>
          <a:lnRef idx="1">
            <a:schemeClr val="accent1"/>
          </a:lnRef>
          <a:fillRef idx="0">
            <a:schemeClr val="accent1"/>
          </a:fillRef>
          <a:effectRef idx="0">
            <a:schemeClr val="accent1"/>
          </a:effectRef>
          <a:fontRef idx="minor">
            <a:schemeClr val="tx1"/>
          </a:fontRef>
        </p:style>
      </p:cxnSp>
      <p:pic>
        <p:nvPicPr>
          <p:cNvPr id="49" name="Picture 48"/>
          <p:cNvPicPr>
            <a:picLocks noChangeAspect="1"/>
          </p:cNvPicPr>
          <p:nvPr/>
        </p:nvPicPr>
        <p:blipFill>
          <a:blip r:embed="rId3"/>
          <a:stretch>
            <a:fillRect/>
          </a:stretch>
        </p:blipFill>
        <p:spPr>
          <a:xfrm>
            <a:off x="6638925" y="984885"/>
            <a:ext cx="5561965" cy="1957705"/>
          </a:xfrm>
          <a:prstGeom prst="rect">
            <a:avLst/>
          </a:prstGeom>
        </p:spPr>
      </p:pic>
      <p:sp>
        <p:nvSpPr>
          <p:cNvPr id="50" name="Text Box 49"/>
          <p:cNvSpPr txBox="1"/>
          <p:nvPr/>
        </p:nvSpPr>
        <p:spPr>
          <a:xfrm>
            <a:off x="6638925" y="678180"/>
            <a:ext cx="1785620" cy="306705"/>
          </a:xfrm>
          <a:prstGeom prst="rect">
            <a:avLst/>
          </a:prstGeom>
          <a:solidFill>
            <a:schemeClr val="tx1"/>
          </a:solidFill>
        </p:spPr>
        <p:txBody>
          <a:bodyPr wrap="square" rtlCol="0">
            <a:spAutoFit/>
          </a:bodyPr>
          <a:p>
            <a:pPr algn="l"/>
            <a:r>
              <a:rPr lang="en-US" altLang="en-US" sz="1400">
                <a:solidFill>
                  <a:schemeClr val="bg1"/>
                </a:solidFill>
                <a:latin typeface="FreeSerif" panose="02020603050405020304" charset="0"/>
                <a:cs typeface="FreeSerif" panose="02020603050405020304" charset="0"/>
              </a:rPr>
              <a:t>Parameter Efficiency</a:t>
            </a:r>
            <a:endParaRPr lang="en-US" altLang="en-US" sz="1400">
              <a:solidFill>
                <a:schemeClr val="bg1"/>
              </a:solidFill>
              <a:latin typeface="FreeSerif" panose="02020603050405020304" charset="0"/>
              <a:cs typeface="FreeSerif" panose="02020603050405020304" charset="0"/>
            </a:endParaRPr>
          </a:p>
        </p:txBody>
      </p:sp>
      <p:pic>
        <p:nvPicPr>
          <p:cNvPr id="51" name="Picture 50"/>
          <p:cNvPicPr>
            <a:picLocks noChangeAspect="1"/>
          </p:cNvPicPr>
          <p:nvPr/>
        </p:nvPicPr>
        <p:blipFill>
          <a:blip r:embed="rId4"/>
          <a:stretch>
            <a:fillRect/>
          </a:stretch>
        </p:blipFill>
        <p:spPr>
          <a:xfrm>
            <a:off x="6652260" y="3765550"/>
            <a:ext cx="5502910" cy="2912110"/>
          </a:xfrm>
          <a:prstGeom prst="rect">
            <a:avLst/>
          </a:prstGeom>
        </p:spPr>
      </p:pic>
      <p:sp>
        <p:nvSpPr>
          <p:cNvPr id="52" name="Text Box 51"/>
          <p:cNvSpPr txBox="1"/>
          <p:nvPr/>
        </p:nvSpPr>
        <p:spPr>
          <a:xfrm>
            <a:off x="6638925" y="3458845"/>
            <a:ext cx="2287270" cy="306705"/>
          </a:xfrm>
          <a:prstGeom prst="rect">
            <a:avLst/>
          </a:prstGeom>
          <a:solidFill>
            <a:schemeClr val="tx1"/>
          </a:solidFill>
        </p:spPr>
        <p:txBody>
          <a:bodyPr wrap="square" rtlCol="0">
            <a:spAutoFit/>
          </a:bodyPr>
          <a:p>
            <a:pPr algn="l"/>
            <a:r>
              <a:rPr lang="en-US" altLang="en-US" sz="1400">
                <a:solidFill>
                  <a:schemeClr val="bg1"/>
                </a:solidFill>
                <a:latin typeface="FreeSerif" panose="02020603050405020304" charset="0"/>
                <a:cs typeface="FreeSerif" panose="02020603050405020304" charset="0"/>
              </a:rPr>
              <a:t>Interpretability &amp; Discovery</a:t>
            </a:r>
            <a:endParaRPr lang="en-US" altLang="en-US" sz="1400">
              <a:solidFill>
                <a:schemeClr val="bg1"/>
              </a:solidFill>
              <a:latin typeface="FreeSerif" panose="02020603050405020304" charset="0"/>
              <a:cs typeface="FreeSerif" panose="02020603050405020304" charset="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4479290" y="146050"/>
            <a:ext cx="3234055" cy="368300"/>
          </a:xfrm>
          <a:prstGeom prst="rect">
            <a:avLst/>
          </a:prstGeom>
          <a:noFill/>
        </p:spPr>
        <p:txBody>
          <a:bodyPr wrap="square" lIns="91440" tIns="45720" rIns="91440" bIns="45720" rtlCol="0" anchor="t">
            <a:spAutoFit/>
          </a:bodyPr>
          <a:p>
            <a:pPr algn="ctr"/>
            <a:r>
              <a:rPr lang="en-US" altLang="en-US" b="1" i="1" dirty="0">
                <a:latin typeface="FreeSerif" panose="02020603050405020304"/>
              </a:rPr>
              <a:t>The MLP Assumption</a:t>
            </a:r>
            <a:endParaRPr lang="en-US" altLang="en-US" b="1" i="1" dirty="0">
              <a:latin typeface="FreeSerif" panose="02020603050405020304"/>
            </a:endParaRPr>
          </a:p>
        </p:txBody>
      </p:sp>
      <p:pic>
        <p:nvPicPr>
          <p:cNvPr id="4" name="Picture 3"/>
          <p:cNvPicPr>
            <a:picLocks noChangeAspect="1"/>
          </p:cNvPicPr>
          <p:nvPr/>
        </p:nvPicPr>
        <p:blipFill>
          <a:blip r:embed="rId1"/>
          <a:stretch>
            <a:fillRect/>
          </a:stretch>
        </p:blipFill>
        <p:spPr>
          <a:xfrm>
            <a:off x="1586230" y="1367155"/>
            <a:ext cx="9020175" cy="4124325"/>
          </a:xfrm>
          <a:prstGeom prst="rect">
            <a:avLst/>
          </a:prstGeom>
        </p:spPr>
      </p:pic>
      <p:sp>
        <p:nvSpPr>
          <p:cNvPr id="52" name="Text Box 51"/>
          <p:cNvSpPr txBox="1"/>
          <p:nvPr/>
        </p:nvSpPr>
        <p:spPr>
          <a:xfrm>
            <a:off x="5033645" y="1060450"/>
            <a:ext cx="2287270" cy="306705"/>
          </a:xfrm>
          <a:prstGeom prst="rect">
            <a:avLst/>
          </a:prstGeom>
          <a:solidFill>
            <a:schemeClr val="tx1"/>
          </a:solidFill>
        </p:spPr>
        <p:txBody>
          <a:bodyPr wrap="square" rtlCol="0">
            <a:spAutoFit/>
          </a:bodyPr>
          <a:p>
            <a:pPr algn="ctr"/>
            <a:r>
              <a:rPr lang="en-US" altLang="en-US" sz="1400">
                <a:solidFill>
                  <a:schemeClr val="bg1"/>
                </a:solidFill>
                <a:latin typeface="FreeSerif" panose="02020603050405020304" charset="0"/>
                <a:cs typeface="FreeSerif" panose="02020603050405020304" charset="0"/>
              </a:rPr>
              <a:t>Catastrophic Forgetting</a:t>
            </a:r>
            <a:endParaRPr lang="en-US" altLang="en-US" sz="1400">
              <a:solidFill>
                <a:schemeClr val="bg1"/>
              </a:solidFill>
              <a:latin typeface="FreeSerif" panose="02020603050405020304" charset="0"/>
              <a:cs typeface="FreeSerif" panose="020206030504050203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4479290" y="146050"/>
            <a:ext cx="3234055" cy="645160"/>
          </a:xfrm>
          <a:prstGeom prst="rect">
            <a:avLst/>
          </a:prstGeom>
          <a:noFill/>
        </p:spPr>
        <p:txBody>
          <a:bodyPr wrap="square" lIns="91440" tIns="45720" rIns="91440" bIns="45720" rtlCol="0" anchor="t">
            <a:spAutoFit/>
          </a:bodyPr>
          <a:p>
            <a:pPr algn="ctr"/>
            <a:r>
              <a:rPr lang="en-US" altLang="en-US" b="1" i="1" dirty="0">
                <a:latin typeface="FreeSerif" panose="02020603050405020304"/>
              </a:rPr>
              <a:t>Inductive Bias &amp; Self-Coordinating Networks</a:t>
            </a:r>
            <a:endParaRPr lang="en-US" altLang="en-US" b="1" i="1" dirty="0">
              <a:latin typeface="FreeSerif" panose="02020603050405020304"/>
            </a:endParaRPr>
          </a:p>
        </p:txBody>
      </p:sp>
      <p:sp>
        <p:nvSpPr>
          <p:cNvPr id="50" name="Text Box 49"/>
          <p:cNvSpPr txBox="1"/>
          <p:nvPr/>
        </p:nvSpPr>
        <p:spPr>
          <a:xfrm>
            <a:off x="1069975" y="1160145"/>
            <a:ext cx="1785620" cy="521970"/>
          </a:xfrm>
          <a:prstGeom prst="rect">
            <a:avLst/>
          </a:prstGeom>
          <a:solidFill>
            <a:schemeClr val="tx1"/>
          </a:solidFill>
        </p:spPr>
        <p:txBody>
          <a:bodyPr wrap="square" rtlCol="0">
            <a:spAutoFit/>
          </a:bodyPr>
          <a:p>
            <a:pPr algn="ctr"/>
            <a:r>
              <a:rPr lang="en-US" altLang="en-US" sz="1400">
                <a:solidFill>
                  <a:schemeClr val="bg1"/>
                </a:solidFill>
                <a:latin typeface="FreeSerif" panose="02020603050405020304" charset="0"/>
                <a:cs typeface="FreeSerif" panose="02020603050405020304" charset="0"/>
              </a:rPr>
              <a:t>Dense and Feed-forward Style</a:t>
            </a:r>
            <a:endParaRPr lang="en-US" altLang="en-US" sz="1400">
              <a:solidFill>
                <a:schemeClr val="bg1"/>
              </a:solidFill>
              <a:latin typeface="FreeSerif" panose="02020603050405020304" charset="0"/>
              <a:cs typeface="FreeSerif" panose="02020603050405020304" charset="0"/>
            </a:endParaRPr>
          </a:p>
        </p:txBody>
      </p:sp>
      <p:sp>
        <p:nvSpPr>
          <p:cNvPr id="4" name="Oval 3"/>
          <p:cNvSpPr/>
          <p:nvPr/>
        </p:nvSpPr>
        <p:spPr>
          <a:xfrm>
            <a:off x="1871980" y="524446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5" name="Oval 4"/>
          <p:cNvSpPr/>
          <p:nvPr/>
        </p:nvSpPr>
        <p:spPr>
          <a:xfrm>
            <a:off x="1871980" y="580326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Oval 5"/>
          <p:cNvSpPr/>
          <p:nvPr/>
        </p:nvSpPr>
        <p:spPr>
          <a:xfrm>
            <a:off x="2353945" y="524446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8" name="Oval 7"/>
          <p:cNvSpPr/>
          <p:nvPr/>
        </p:nvSpPr>
        <p:spPr>
          <a:xfrm>
            <a:off x="2172970" y="560260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9" name="Oval 8"/>
          <p:cNvSpPr/>
          <p:nvPr/>
        </p:nvSpPr>
        <p:spPr>
          <a:xfrm>
            <a:off x="1517650" y="560260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0" name="Oval 9"/>
          <p:cNvSpPr/>
          <p:nvPr/>
        </p:nvSpPr>
        <p:spPr>
          <a:xfrm>
            <a:off x="1336675" y="524446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1" name="Oval 10"/>
          <p:cNvSpPr/>
          <p:nvPr/>
        </p:nvSpPr>
        <p:spPr>
          <a:xfrm>
            <a:off x="1871980" y="4707890"/>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2" name="Oval 11"/>
          <p:cNvSpPr/>
          <p:nvPr/>
        </p:nvSpPr>
        <p:spPr>
          <a:xfrm>
            <a:off x="1517650" y="4908550"/>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3" name="Oval 12"/>
          <p:cNvSpPr/>
          <p:nvPr/>
        </p:nvSpPr>
        <p:spPr>
          <a:xfrm>
            <a:off x="2172970" y="4908550"/>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4" name="Oval 13"/>
          <p:cNvSpPr/>
          <p:nvPr/>
        </p:nvSpPr>
        <p:spPr>
          <a:xfrm>
            <a:off x="1393190" y="2420620"/>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5" name="Oval 14"/>
          <p:cNvSpPr/>
          <p:nvPr/>
        </p:nvSpPr>
        <p:spPr>
          <a:xfrm>
            <a:off x="1393190" y="2979420"/>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6" name="Oval 15"/>
          <p:cNvSpPr/>
          <p:nvPr/>
        </p:nvSpPr>
        <p:spPr>
          <a:xfrm>
            <a:off x="1875155" y="2420620"/>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18" name="Oval 17"/>
          <p:cNvSpPr/>
          <p:nvPr/>
        </p:nvSpPr>
        <p:spPr>
          <a:xfrm>
            <a:off x="1383665" y="2700020"/>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20" name="Oval 19"/>
          <p:cNvSpPr/>
          <p:nvPr/>
        </p:nvSpPr>
        <p:spPr>
          <a:xfrm>
            <a:off x="1393190" y="188404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21" name="Oval 20"/>
          <p:cNvSpPr/>
          <p:nvPr/>
        </p:nvSpPr>
        <p:spPr>
          <a:xfrm>
            <a:off x="1383665" y="2152015"/>
            <a:ext cx="180975" cy="200660"/>
          </a:xfrm>
          <a:prstGeom prst="ellipse">
            <a:avLst/>
          </a:prstGeom>
          <a:solidFill>
            <a:schemeClr val="tx1"/>
          </a:solidFill>
          <a:ln w="28575" cmpd="sng">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cxnSp>
        <p:nvCxnSpPr>
          <p:cNvPr id="23" name="Straight Connector 22"/>
          <p:cNvCxnSpPr>
            <a:stCxn id="15" idx="6"/>
            <a:endCxn id="16" idx="2"/>
          </p:cNvCxnSpPr>
          <p:nvPr/>
        </p:nvCxnSpPr>
        <p:spPr>
          <a:xfrm flipV="1">
            <a:off x="1583690" y="2520950"/>
            <a:ext cx="300990" cy="558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stCxn id="18" idx="6"/>
            <a:endCxn id="16" idx="2"/>
          </p:cNvCxnSpPr>
          <p:nvPr/>
        </p:nvCxnSpPr>
        <p:spPr>
          <a:xfrm flipV="1">
            <a:off x="1574165" y="2520950"/>
            <a:ext cx="310515" cy="27940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p:cNvCxnSpPr>
            <a:stCxn id="14" idx="6"/>
            <a:endCxn id="16" idx="2"/>
          </p:cNvCxnSpPr>
          <p:nvPr/>
        </p:nvCxnSpPr>
        <p:spPr>
          <a:xfrm>
            <a:off x="1583690" y="2520950"/>
            <a:ext cx="3009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a:stCxn id="21" idx="6"/>
            <a:endCxn id="16" idx="2"/>
          </p:cNvCxnSpPr>
          <p:nvPr/>
        </p:nvCxnSpPr>
        <p:spPr>
          <a:xfrm>
            <a:off x="1574165" y="2252345"/>
            <a:ext cx="310515" cy="26860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20" idx="6"/>
            <a:endCxn id="16" idx="3"/>
          </p:cNvCxnSpPr>
          <p:nvPr/>
        </p:nvCxnSpPr>
        <p:spPr>
          <a:xfrm>
            <a:off x="1583690" y="1984375"/>
            <a:ext cx="327660" cy="6076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Oval 27"/>
          <p:cNvSpPr/>
          <p:nvPr/>
        </p:nvSpPr>
        <p:spPr>
          <a:xfrm>
            <a:off x="1875155" y="2700020"/>
            <a:ext cx="180975" cy="200660"/>
          </a:xfrm>
          <a:prstGeom prst="ellipse">
            <a:avLst/>
          </a:prstGeom>
          <a:solidFill>
            <a:schemeClr val="bg1"/>
          </a:solidFill>
          <a:ln w="28575" cmpd="sng">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29" name="Oval 28"/>
          <p:cNvSpPr/>
          <p:nvPr/>
        </p:nvSpPr>
        <p:spPr>
          <a:xfrm>
            <a:off x="1875155" y="2979420"/>
            <a:ext cx="180975" cy="200660"/>
          </a:xfrm>
          <a:prstGeom prst="ellipse">
            <a:avLst/>
          </a:prstGeom>
          <a:solidFill>
            <a:schemeClr val="bg1"/>
          </a:solidFill>
          <a:ln w="28575" cmpd="sng">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0" name="Oval 29"/>
          <p:cNvSpPr/>
          <p:nvPr/>
        </p:nvSpPr>
        <p:spPr>
          <a:xfrm>
            <a:off x="1875155" y="2152015"/>
            <a:ext cx="180975" cy="200660"/>
          </a:xfrm>
          <a:prstGeom prst="ellipse">
            <a:avLst/>
          </a:prstGeom>
          <a:noFill/>
          <a:ln w="28575" cmpd="sng">
            <a:solidFill>
              <a:schemeClr val="tx1"/>
            </a:solidFill>
            <a:prstDash val="solid"/>
          </a:ln>
          <a:extLst>
            <a:ext uri="{909E8E84-426E-40DD-AFC4-6F175D3DCCD1}">
              <a14:hiddenFill xmlns:a14="http://schemas.microsoft.com/office/drawing/2010/main">
                <a:solidFill>
                  <a:schemeClr val="tx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1" name="Oval 30"/>
          <p:cNvSpPr/>
          <p:nvPr/>
        </p:nvSpPr>
        <p:spPr>
          <a:xfrm>
            <a:off x="1875155" y="1884045"/>
            <a:ext cx="180975" cy="200660"/>
          </a:xfrm>
          <a:prstGeom prst="ellipse">
            <a:avLst/>
          </a:prstGeom>
          <a:solidFill>
            <a:schemeClr val="bg1"/>
          </a:solidFill>
          <a:ln w="28575" cmpd="sng">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2" name="Oval 31"/>
          <p:cNvSpPr/>
          <p:nvPr/>
        </p:nvSpPr>
        <p:spPr>
          <a:xfrm>
            <a:off x="2334260" y="2700020"/>
            <a:ext cx="180975" cy="200660"/>
          </a:xfrm>
          <a:prstGeom prst="ellipse">
            <a:avLst/>
          </a:prstGeom>
          <a:solidFill>
            <a:schemeClr val="bg1"/>
          </a:solidFill>
          <a:ln w="28575" cmpd="sng">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3" name="Oval 32"/>
          <p:cNvSpPr/>
          <p:nvPr/>
        </p:nvSpPr>
        <p:spPr>
          <a:xfrm>
            <a:off x="2334260" y="2979420"/>
            <a:ext cx="180975" cy="200660"/>
          </a:xfrm>
          <a:prstGeom prst="ellipse">
            <a:avLst/>
          </a:prstGeom>
          <a:solidFill>
            <a:schemeClr val="bg1"/>
          </a:solidFill>
          <a:ln w="28575" cmpd="sng">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4" name="Oval 33"/>
          <p:cNvSpPr/>
          <p:nvPr/>
        </p:nvSpPr>
        <p:spPr>
          <a:xfrm>
            <a:off x="2334260" y="2152015"/>
            <a:ext cx="180975" cy="200660"/>
          </a:xfrm>
          <a:prstGeom prst="ellipse">
            <a:avLst/>
          </a:prstGeom>
          <a:noFill/>
          <a:ln w="28575" cmpd="sng">
            <a:solidFill>
              <a:schemeClr val="tx1"/>
            </a:solidFill>
            <a:prstDash val="solid"/>
          </a:ln>
          <a:extLst>
            <a:ext uri="{909E8E84-426E-40DD-AFC4-6F175D3DCCD1}">
              <a14:hiddenFill xmlns:a14="http://schemas.microsoft.com/office/drawing/2010/main">
                <a:solidFill>
                  <a:schemeClr val="tx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5" name="Oval 34"/>
          <p:cNvSpPr/>
          <p:nvPr/>
        </p:nvSpPr>
        <p:spPr>
          <a:xfrm>
            <a:off x="2334260" y="1884045"/>
            <a:ext cx="180975" cy="200660"/>
          </a:xfrm>
          <a:prstGeom prst="ellipse">
            <a:avLst/>
          </a:prstGeom>
          <a:noFill/>
          <a:ln w="28575" cmpd="sng">
            <a:solidFill>
              <a:schemeClr val="tx1"/>
            </a:solidFill>
            <a:prstDash val="solid"/>
          </a:ln>
          <a:extLst>
            <a:ext uri="{909E8E84-426E-40DD-AFC4-6F175D3DCCD1}">
              <a14:hiddenFill xmlns:a14="http://schemas.microsoft.com/office/drawing/2010/main">
                <a:solidFill>
                  <a:schemeClr val="tx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6" name="Oval 35"/>
          <p:cNvSpPr/>
          <p:nvPr/>
        </p:nvSpPr>
        <p:spPr>
          <a:xfrm>
            <a:off x="2334260" y="2420620"/>
            <a:ext cx="180975" cy="200660"/>
          </a:xfrm>
          <a:prstGeom prst="ellipse">
            <a:avLst/>
          </a:prstGeom>
          <a:noFill/>
          <a:ln w="28575" cmpd="sng">
            <a:solidFill>
              <a:schemeClr val="tx1"/>
            </a:solidFill>
            <a:prstDash val="solid"/>
          </a:ln>
          <a:extLst>
            <a:ext uri="{909E8E84-426E-40DD-AFC4-6F175D3DCCD1}">
              <a14:hiddenFill xmlns:a14="http://schemas.microsoft.com/office/drawing/2010/main">
                <a:solidFill>
                  <a:schemeClr val="tx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7" name="Text Box 36"/>
          <p:cNvSpPr txBox="1"/>
          <p:nvPr/>
        </p:nvSpPr>
        <p:spPr>
          <a:xfrm>
            <a:off x="1069340" y="3950970"/>
            <a:ext cx="1785620" cy="521970"/>
          </a:xfrm>
          <a:prstGeom prst="rect">
            <a:avLst/>
          </a:prstGeom>
          <a:solidFill>
            <a:schemeClr val="tx1"/>
          </a:solidFill>
        </p:spPr>
        <p:txBody>
          <a:bodyPr wrap="square" rtlCol="0">
            <a:spAutoFit/>
          </a:bodyPr>
          <a:p>
            <a:pPr algn="ctr"/>
            <a:r>
              <a:rPr lang="en-US" altLang="en-US" sz="1400">
                <a:solidFill>
                  <a:schemeClr val="bg1"/>
                </a:solidFill>
                <a:latin typeface="FreeSerif" panose="02020603050405020304" charset="0"/>
                <a:cs typeface="FreeSerif" panose="02020603050405020304" charset="0"/>
              </a:rPr>
              <a:t>Self-Organizing Networks</a:t>
            </a:r>
            <a:endParaRPr lang="en-US" altLang="en-US" sz="1400">
              <a:solidFill>
                <a:schemeClr val="bg1"/>
              </a:solidFill>
              <a:latin typeface="FreeSerif" panose="02020603050405020304" charset="0"/>
              <a:cs typeface="FreeSerif" panose="02020603050405020304" charset="0"/>
            </a:endParaRPr>
          </a:p>
        </p:txBody>
      </p:sp>
      <p:cxnSp>
        <p:nvCxnSpPr>
          <p:cNvPr id="38" name="Straight Connector 37"/>
          <p:cNvCxnSpPr>
            <a:stCxn id="4" idx="0"/>
            <a:endCxn id="11" idx="4"/>
          </p:cNvCxnSpPr>
          <p:nvPr/>
        </p:nvCxnSpPr>
        <p:spPr>
          <a:xfrm flipV="1">
            <a:off x="1962785" y="4908550"/>
            <a:ext cx="0" cy="335915"/>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p:cNvCxnSpPr>
            <a:stCxn id="4" idx="7"/>
            <a:endCxn id="13" idx="3"/>
          </p:cNvCxnSpPr>
          <p:nvPr/>
        </p:nvCxnSpPr>
        <p:spPr>
          <a:xfrm flipV="1">
            <a:off x="2026285" y="5080000"/>
            <a:ext cx="173355" cy="1936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a:stCxn id="4" idx="3"/>
            <a:endCxn id="9" idx="7"/>
          </p:cNvCxnSpPr>
          <p:nvPr/>
        </p:nvCxnSpPr>
        <p:spPr>
          <a:xfrm flipH="1">
            <a:off x="1671955" y="5415915"/>
            <a:ext cx="226695" cy="215900"/>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p:cNvCxnSpPr>
            <a:stCxn id="4" idx="4"/>
            <a:endCxn id="5" idx="0"/>
          </p:cNvCxnSpPr>
          <p:nvPr/>
        </p:nvCxnSpPr>
        <p:spPr>
          <a:xfrm>
            <a:off x="1962785" y="5445125"/>
            <a:ext cx="0" cy="3581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4" idx="6"/>
            <a:endCxn id="6" idx="2"/>
          </p:cNvCxnSpPr>
          <p:nvPr/>
        </p:nvCxnSpPr>
        <p:spPr>
          <a:xfrm>
            <a:off x="2052955" y="5344795"/>
            <a:ext cx="300990"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p:cNvCxnSpPr>
            <a:stCxn id="4" idx="5"/>
            <a:endCxn id="8" idx="1"/>
          </p:cNvCxnSpPr>
          <p:nvPr/>
        </p:nvCxnSpPr>
        <p:spPr>
          <a:xfrm>
            <a:off x="2026285" y="5415915"/>
            <a:ext cx="173355" cy="2159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a:stCxn id="4" idx="1"/>
            <a:endCxn id="12" idx="5"/>
          </p:cNvCxnSpPr>
          <p:nvPr/>
        </p:nvCxnSpPr>
        <p:spPr>
          <a:xfrm flipH="1" flipV="1">
            <a:off x="1671955" y="5080000"/>
            <a:ext cx="226695" cy="1936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a:stCxn id="10" idx="6"/>
            <a:endCxn id="4" idx="2"/>
          </p:cNvCxnSpPr>
          <p:nvPr/>
        </p:nvCxnSpPr>
        <p:spPr>
          <a:xfrm>
            <a:off x="1517650" y="5344795"/>
            <a:ext cx="35433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a:off x="3334385" y="791210"/>
            <a:ext cx="10160" cy="5659755"/>
          </a:xfrm>
          <a:prstGeom prst="line">
            <a:avLst/>
          </a:prstGeom>
          <a:ln>
            <a:solidFill>
              <a:schemeClr val="tx1"/>
            </a:solidFill>
            <a:prstDash val="lgDashDotDot"/>
          </a:ln>
        </p:spPr>
        <p:style>
          <a:lnRef idx="1">
            <a:schemeClr val="accent1"/>
          </a:lnRef>
          <a:fillRef idx="0">
            <a:schemeClr val="accent1"/>
          </a:fillRef>
          <a:effectRef idx="0">
            <a:schemeClr val="accent1"/>
          </a:effectRef>
          <a:fontRef idx="minor">
            <a:schemeClr val="tx1"/>
          </a:fontRef>
        </p:style>
      </p:cxnSp>
      <p:pic>
        <p:nvPicPr>
          <p:cNvPr id="46" name="Picture 45"/>
          <p:cNvPicPr>
            <a:picLocks noChangeAspect="1"/>
          </p:cNvPicPr>
          <p:nvPr/>
        </p:nvPicPr>
        <p:blipFill>
          <a:blip r:embed="rId1"/>
          <a:stretch>
            <a:fillRect/>
          </a:stretch>
        </p:blipFill>
        <p:spPr>
          <a:xfrm>
            <a:off x="3344545" y="1301115"/>
            <a:ext cx="2827020" cy="513080"/>
          </a:xfrm>
          <a:prstGeom prst="rect">
            <a:avLst/>
          </a:prstGeom>
        </p:spPr>
      </p:pic>
      <p:pic>
        <p:nvPicPr>
          <p:cNvPr id="48" name="Picture 47"/>
          <p:cNvPicPr>
            <a:picLocks noChangeAspect="1"/>
          </p:cNvPicPr>
          <p:nvPr/>
        </p:nvPicPr>
        <p:blipFill>
          <a:blip r:embed="rId2"/>
          <a:stretch>
            <a:fillRect/>
          </a:stretch>
        </p:blipFill>
        <p:spPr>
          <a:xfrm>
            <a:off x="3344545" y="4571365"/>
            <a:ext cx="6926580" cy="2289175"/>
          </a:xfrm>
          <a:prstGeom prst="rect">
            <a:avLst/>
          </a:prstGeom>
        </p:spPr>
      </p:pic>
      <p:sp>
        <p:nvSpPr>
          <p:cNvPr id="52" name="Text Box 51"/>
          <p:cNvSpPr txBox="1"/>
          <p:nvPr/>
        </p:nvSpPr>
        <p:spPr>
          <a:xfrm>
            <a:off x="3344545" y="779145"/>
            <a:ext cx="2287270" cy="521970"/>
          </a:xfrm>
          <a:prstGeom prst="rect">
            <a:avLst/>
          </a:prstGeom>
          <a:solidFill>
            <a:schemeClr val="tx1"/>
          </a:solidFill>
        </p:spPr>
        <p:txBody>
          <a:bodyPr wrap="square" rtlCol="0">
            <a:spAutoFit/>
          </a:bodyPr>
          <a:p>
            <a:pPr algn="l"/>
            <a:r>
              <a:rPr lang="en-US" altLang="en-US" sz="1400">
                <a:solidFill>
                  <a:schemeClr val="bg1"/>
                </a:solidFill>
                <a:latin typeface="FreeSerif" panose="02020603050405020304" charset="0"/>
                <a:cs typeface="FreeSerif" panose="02020603050405020304" charset="0"/>
              </a:rPr>
              <a:t>Biological &amp; Physics Inspired Optimization</a:t>
            </a:r>
            <a:endParaRPr lang="en-US" altLang="en-US" sz="1400">
              <a:solidFill>
                <a:schemeClr val="bg1"/>
              </a:solidFill>
              <a:latin typeface="FreeSerif" panose="02020603050405020304" charset="0"/>
              <a:cs typeface="FreeSerif" panose="02020603050405020304" charset="0"/>
            </a:endParaRPr>
          </a:p>
        </p:txBody>
      </p:sp>
      <p:sp>
        <p:nvSpPr>
          <p:cNvPr id="49" name="Text Box 48"/>
          <p:cNvSpPr txBox="1"/>
          <p:nvPr/>
        </p:nvSpPr>
        <p:spPr>
          <a:xfrm>
            <a:off x="3344545" y="4360545"/>
            <a:ext cx="2287270" cy="306705"/>
          </a:xfrm>
          <a:prstGeom prst="rect">
            <a:avLst/>
          </a:prstGeom>
          <a:solidFill>
            <a:schemeClr val="tx1"/>
          </a:solidFill>
        </p:spPr>
        <p:txBody>
          <a:bodyPr wrap="square" rtlCol="0">
            <a:spAutoFit/>
          </a:bodyPr>
          <a:p>
            <a:pPr algn="l"/>
            <a:r>
              <a:rPr lang="en-US" altLang="en-US" sz="1400">
                <a:solidFill>
                  <a:schemeClr val="bg1"/>
                </a:solidFill>
                <a:latin typeface="FreeSerif" panose="02020603050405020304" charset="0"/>
                <a:cs typeface="FreeSerif" panose="02020603050405020304" charset="0"/>
              </a:rPr>
              <a:t>pRNNs</a:t>
            </a:r>
            <a:endParaRPr lang="en-US" altLang="en-US" sz="1400">
              <a:solidFill>
                <a:schemeClr val="bg1"/>
              </a:solidFill>
              <a:latin typeface="FreeSerif" panose="02020603050405020304" charset="0"/>
              <a:cs typeface="FreeSerif" panose="02020603050405020304" charset="0"/>
            </a:endParaRPr>
          </a:p>
        </p:txBody>
      </p:sp>
      <p:pic>
        <p:nvPicPr>
          <p:cNvPr id="53" name="Picture 52"/>
          <p:cNvPicPr>
            <a:picLocks noChangeAspect="1"/>
          </p:cNvPicPr>
          <p:nvPr/>
        </p:nvPicPr>
        <p:blipFill>
          <a:blip r:embed="rId3"/>
          <a:stretch>
            <a:fillRect/>
          </a:stretch>
        </p:blipFill>
        <p:spPr>
          <a:xfrm>
            <a:off x="3426460" y="2252345"/>
            <a:ext cx="2124075" cy="1920240"/>
          </a:xfrm>
          <a:prstGeom prst="rect">
            <a:avLst/>
          </a:prstGeom>
        </p:spPr>
      </p:pic>
      <p:pic>
        <p:nvPicPr>
          <p:cNvPr id="54" name="Picture 53"/>
          <p:cNvPicPr>
            <a:picLocks noChangeAspect="1"/>
          </p:cNvPicPr>
          <p:nvPr/>
        </p:nvPicPr>
        <p:blipFill>
          <a:blip r:embed="rId4"/>
          <a:stretch>
            <a:fillRect/>
          </a:stretch>
        </p:blipFill>
        <p:spPr>
          <a:xfrm>
            <a:off x="5810885" y="2252345"/>
            <a:ext cx="2159000" cy="1951990"/>
          </a:xfrm>
          <a:prstGeom prst="rect">
            <a:avLst/>
          </a:prstGeom>
        </p:spPr>
      </p:pic>
      <p:sp>
        <p:nvSpPr>
          <p:cNvPr id="55" name="Text Box 54"/>
          <p:cNvSpPr txBox="1"/>
          <p:nvPr/>
        </p:nvSpPr>
        <p:spPr>
          <a:xfrm>
            <a:off x="4041458" y="1974215"/>
            <a:ext cx="893445" cy="275590"/>
          </a:xfrm>
          <a:prstGeom prst="rect">
            <a:avLst/>
          </a:prstGeom>
          <a:noFill/>
        </p:spPr>
        <p:txBody>
          <a:bodyPr wrap="none" rtlCol="0">
            <a:spAutoFit/>
          </a:bodyPr>
          <a:p>
            <a:pPr algn="ctr"/>
            <a:r>
              <a:rPr lang="en-US" altLang="en-US" sz="1200" b="1" i="1">
                <a:latin typeface="FreeSerif" panose="02020603050405020304" charset="0"/>
                <a:cs typeface="FreeSerif" panose="02020603050405020304" charset="0"/>
              </a:rPr>
              <a:t>Static Node</a:t>
            </a:r>
            <a:endParaRPr lang="en-US" altLang="en-US" sz="1200" b="1" i="1">
              <a:latin typeface="FreeSerif" panose="02020603050405020304" charset="0"/>
              <a:cs typeface="FreeSerif" panose="02020603050405020304" charset="0"/>
            </a:endParaRPr>
          </a:p>
        </p:txBody>
      </p:sp>
      <p:sp>
        <p:nvSpPr>
          <p:cNvPr id="56" name="Text Box 55"/>
          <p:cNvSpPr txBox="1"/>
          <p:nvPr/>
        </p:nvSpPr>
        <p:spPr>
          <a:xfrm>
            <a:off x="6343015" y="1974215"/>
            <a:ext cx="1094740" cy="275590"/>
          </a:xfrm>
          <a:prstGeom prst="rect">
            <a:avLst/>
          </a:prstGeom>
          <a:noFill/>
        </p:spPr>
        <p:txBody>
          <a:bodyPr wrap="none" rtlCol="0">
            <a:spAutoFit/>
          </a:bodyPr>
          <a:p>
            <a:pPr algn="ctr"/>
            <a:r>
              <a:rPr lang="en-US" altLang="en-US" sz="1200" b="1" i="1">
                <a:latin typeface="FreeSerif" panose="02020603050405020304" charset="0"/>
                <a:cs typeface="FreeSerif" panose="02020603050405020304" charset="0"/>
              </a:rPr>
              <a:t>Adaptive Node</a:t>
            </a:r>
            <a:endParaRPr lang="en-US" altLang="en-US" sz="1200" b="1" i="1">
              <a:latin typeface="FreeSerif" panose="02020603050405020304" charset="0"/>
              <a:cs typeface="FreeSerif" panose="020206030504050203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4479290" y="146050"/>
            <a:ext cx="3234055" cy="645160"/>
          </a:xfrm>
          <a:prstGeom prst="rect">
            <a:avLst/>
          </a:prstGeom>
          <a:noFill/>
        </p:spPr>
        <p:txBody>
          <a:bodyPr wrap="square" lIns="91440" tIns="45720" rIns="91440" bIns="45720" rtlCol="0" anchor="t">
            <a:spAutoFit/>
          </a:bodyPr>
          <a:p>
            <a:pPr algn="ctr"/>
            <a:r>
              <a:rPr lang="en-US" altLang="en-US" b="1" i="1" dirty="0">
                <a:latin typeface="FreeSerif" panose="02020603050405020304"/>
              </a:rPr>
              <a:t>Inductive Bias &amp; Self-Coordinating Networks</a:t>
            </a:r>
            <a:endParaRPr lang="en-US" altLang="en-US" b="1" i="1" dirty="0">
              <a:latin typeface="FreeSerif" panose="02020603050405020304"/>
            </a:endParaRPr>
          </a:p>
        </p:txBody>
      </p:sp>
      <p:pic>
        <p:nvPicPr>
          <p:cNvPr id="2" name="Picture 1"/>
          <p:cNvPicPr>
            <a:picLocks noChangeAspect="1"/>
          </p:cNvPicPr>
          <p:nvPr/>
        </p:nvPicPr>
        <p:blipFill>
          <a:blip r:embed="rId1"/>
          <a:stretch>
            <a:fillRect/>
          </a:stretch>
        </p:blipFill>
        <p:spPr>
          <a:xfrm>
            <a:off x="876300" y="779780"/>
            <a:ext cx="4672965" cy="2931160"/>
          </a:xfrm>
          <a:prstGeom prst="rect">
            <a:avLst/>
          </a:prstGeom>
        </p:spPr>
      </p:pic>
      <p:pic>
        <p:nvPicPr>
          <p:cNvPr id="17" name="Picture 16"/>
          <p:cNvPicPr>
            <a:picLocks noChangeAspect="1"/>
          </p:cNvPicPr>
          <p:nvPr/>
        </p:nvPicPr>
        <p:blipFill>
          <a:blip r:embed="rId2"/>
          <a:stretch>
            <a:fillRect/>
          </a:stretch>
        </p:blipFill>
        <p:spPr>
          <a:xfrm>
            <a:off x="5549265" y="720725"/>
            <a:ext cx="6629400" cy="3049270"/>
          </a:xfrm>
          <a:prstGeom prst="rect">
            <a:avLst/>
          </a:prstGeom>
        </p:spPr>
      </p:pic>
      <p:sp>
        <p:nvSpPr>
          <p:cNvPr id="19" name="Text Box 18"/>
          <p:cNvSpPr txBox="1"/>
          <p:nvPr/>
        </p:nvSpPr>
        <p:spPr>
          <a:xfrm rot="16200000">
            <a:off x="-734695" y="2012950"/>
            <a:ext cx="1785620" cy="306705"/>
          </a:xfrm>
          <a:prstGeom prst="rect">
            <a:avLst/>
          </a:prstGeom>
          <a:solidFill>
            <a:schemeClr val="tx1"/>
          </a:solidFill>
        </p:spPr>
        <p:txBody>
          <a:bodyPr wrap="square" rtlCol="0">
            <a:spAutoFit/>
          </a:bodyPr>
          <a:p>
            <a:pPr algn="ctr"/>
            <a:r>
              <a:rPr lang="en-US" altLang="en-US" sz="1400">
                <a:solidFill>
                  <a:schemeClr val="bg1"/>
                </a:solidFill>
                <a:latin typeface="FreeSerif" panose="02020603050405020304" charset="0"/>
                <a:cs typeface="FreeSerif" panose="02020603050405020304" charset="0"/>
              </a:rPr>
              <a:t>GaTaP</a:t>
            </a:r>
            <a:endParaRPr lang="en-US" altLang="en-US" sz="1400">
              <a:solidFill>
                <a:schemeClr val="bg1"/>
              </a:solidFill>
              <a:latin typeface="FreeSerif" panose="02020603050405020304" charset="0"/>
              <a:cs typeface="FreeSerif" panose="02020603050405020304" charset="0"/>
            </a:endParaRPr>
          </a:p>
        </p:txBody>
      </p:sp>
      <p:cxnSp>
        <p:nvCxnSpPr>
          <p:cNvPr id="22" name="Straight Connector 21"/>
          <p:cNvCxnSpPr/>
          <p:nvPr/>
        </p:nvCxnSpPr>
        <p:spPr>
          <a:xfrm flipH="1">
            <a:off x="50800" y="3716020"/>
            <a:ext cx="12122150" cy="10160"/>
          </a:xfrm>
          <a:prstGeom prst="line">
            <a:avLst/>
          </a:prstGeom>
          <a:ln>
            <a:solidFill>
              <a:schemeClr val="tx1"/>
            </a:solidFill>
            <a:prstDash val="lgDashDotDot"/>
          </a:ln>
        </p:spPr>
        <p:style>
          <a:lnRef idx="1">
            <a:schemeClr val="accent1"/>
          </a:lnRef>
          <a:fillRef idx="0">
            <a:schemeClr val="accent1"/>
          </a:fillRef>
          <a:effectRef idx="0">
            <a:schemeClr val="accent1"/>
          </a:effectRef>
          <a:fontRef idx="minor">
            <a:schemeClr val="tx1"/>
          </a:fontRef>
        </p:style>
      </p:cxnSp>
      <p:pic>
        <p:nvPicPr>
          <p:cNvPr id="51" name="Picture 50"/>
          <p:cNvPicPr>
            <a:picLocks noChangeAspect="1"/>
          </p:cNvPicPr>
          <p:nvPr/>
        </p:nvPicPr>
        <p:blipFill>
          <a:blip r:embed="rId3"/>
          <a:stretch>
            <a:fillRect/>
          </a:stretch>
        </p:blipFill>
        <p:spPr>
          <a:xfrm>
            <a:off x="1026795" y="3980180"/>
            <a:ext cx="4723765" cy="2127250"/>
          </a:xfrm>
          <a:prstGeom prst="rect">
            <a:avLst/>
          </a:prstGeom>
        </p:spPr>
      </p:pic>
      <p:pic>
        <p:nvPicPr>
          <p:cNvPr id="57" name="Picture 56"/>
          <p:cNvPicPr>
            <a:picLocks noChangeAspect="1"/>
          </p:cNvPicPr>
          <p:nvPr/>
        </p:nvPicPr>
        <p:blipFill>
          <a:blip r:embed="rId4"/>
          <a:stretch>
            <a:fillRect/>
          </a:stretch>
        </p:blipFill>
        <p:spPr>
          <a:xfrm>
            <a:off x="6293485" y="3710940"/>
            <a:ext cx="5140960" cy="1866900"/>
          </a:xfrm>
          <a:prstGeom prst="rect">
            <a:avLst/>
          </a:prstGeom>
        </p:spPr>
      </p:pic>
      <p:pic>
        <p:nvPicPr>
          <p:cNvPr id="58" name="Picture 57"/>
          <p:cNvPicPr>
            <a:picLocks noChangeAspect="1"/>
          </p:cNvPicPr>
          <p:nvPr/>
        </p:nvPicPr>
        <p:blipFill>
          <a:blip r:embed="rId5"/>
          <a:stretch>
            <a:fillRect/>
          </a:stretch>
        </p:blipFill>
        <p:spPr>
          <a:xfrm>
            <a:off x="6918325" y="5480685"/>
            <a:ext cx="3891280" cy="1369060"/>
          </a:xfrm>
          <a:prstGeom prst="rect">
            <a:avLst/>
          </a:prstGeom>
        </p:spPr>
      </p:pic>
      <p:sp>
        <p:nvSpPr>
          <p:cNvPr id="59" name="Text Box 58"/>
          <p:cNvSpPr txBox="1"/>
          <p:nvPr/>
        </p:nvSpPr>
        <p:spPr>
          <a:xfrm rot="16200000">
            <a:off x="-734695" y="4890135"/>
            <a:ext cx="1785620" cy="306705"/>
          </a:xfrm>
          <a:prstGeom prst="rect">
            <a:avLst/>
          </a:prstGeom>
          <a:solidFill>
            <a:schemeClr val="tx1"/>
          </a:solidFill>
        </p:spPr>
        <p:txBody>
          <a:bodyPr wrap="square" rtlCol="0">
            <a:spAutoFit/>
          </a:bodyPr>
          <a:p>
            <a:pPr algn="ctr"/>
            <a:r>
              <a:rPr lang="en-US" altLang="en-US" sz="1400">
                <a:solidFill>
                  <a:schemeClr val="bg1"/>
                </a:solidFill>
                <a:latin typeface="FreeSerif" panose="02020603050405020304" charset="0"/>
                <a:cs typeface="FreeSerif" panose="02020603050405020304" charset="0"/>
              </a:rPr>
              <a:t>NCAP</a:t>
            </a:r>
            <a:endParaRPr lang="en-US" altLang="en-US" sz="1400">
              <a:solidFill>
                <a:schemeClr val="bg1"/>
              </a:solidFill>
              <a:latin typeface="FreeSerif" panose="02020603050405020304" charset="0"/>
              <a:cs typeface="FreeSerif" panose="020206030504050203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4479290" y="146050"/>
            <a:ext cx="3234055" cy="368300"/>
          </a:xfrm>
          <a:prstGeom prst="rect">
            <a:avLst/>
          </a:prstGeom>
          <a:noFill/>
        </p:spPr>
        <p:txBody>
          <a:bodyPr wrap="square" lIns="91440" tIns="45720" rIns="91440" bIns="45720" rtlCol="0" anchor="t">
            <a:spAutoFit/>
          </a:bodyPr>
          <a:p>
            <a:pPr algn="ctr"/>
            <a:r>
              <a:rPr lang="en-US" altLang="en-US" b="1" i="1" dirty="0">
                <a:latin typeface="FreeSerif" panose="02020603050405020304"/>
              </a:rPr>
              <a:t>$1Million Research</a:t>
            </a:r>
            <a:endParaRPr lang="en-US" altLang="en-US" b="1" i="1" dirty="0">
              <a:latin typeface="FreeSerif" panose="02020603050405020304"/>
            </a:endParaRPr>
          </a:p>
        </p:txBody>
      </p:sp>
      <p:grpSp>
        <p:nvGrpSpPr>
          <p:cNvPr id="42" name="Group 41"/>
          <p:cNvGrpSpPr/>
          <p:nvPr/>
        </p:nvGrpSpPr>
        <p:grpSpPr>
          <a:xfrm>
            <a:off x="200025" y="533400"/>
            <a:ext cx="3495675" cy="6263640"/>
            <a:chOff x="114" y="5791"/>
            <a:chExt cx="4700" cy="9864"/>
          </a:xfrm>
        </p:grpSpPr>
        <p:sp>
          <p:nvSpPr>
            <p:cNvPr id="43" name="TextBox 6"/>
            <p:cNvSpPr txBox="1"/>
            <p:nvPr/>
          </p:nvSpPr>
          <p:spPr>
            <a:xfrm>
              <a:off x="114" y="6787"/>
              <a:ext cx="4700" cy="8868"/>
            </a:xfrm>
            <a:prstGeom prst="rect">
              <a:avLst/>
            </a:prstGeom>
            <a:no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marL="228600" indent="-228600" algn="l">
                <a:lnSpc>
                  <a:spcPct val="200000"/>
                </a:lnSpc>
                <a:buAutoNum type="arabicPeriod"/>
              </a:pPr>
              <a:r>
                <a:rPr lang="en-US" altLang="en-US" sz="1200" b="1" i="1">
                  <a:latin typeface="FreeSerif" panose="02020603050405020304"/>
                </a:rPr>
                <a:t>NCAP + GaTaP:</a:t>
              </a:r>
              <a:endParaRPr lang="en-US" altLang="en-US" sz="1200" b="1"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Show NCAP-CPG provide</a:t>
              </a:r>
              <a:r>
                <a:rPr lang="en-US" altLang="en-US" sz="1200" b="1" i="1">
                  <a:latin typeface="FreeSerif" panose="02020603050405020304"/>
                </a:rPr>
                <a:t> natural gait</a:t>
              </a:r>
              <a:r>
                <a:rPr lang="en-US" altLang="en-US" sz="1200" i="1">
                  <a:latin typeface="FreeSerif" panose="02020603050405020304"/>
                </a:rPr>
                <a:t> with </a:t>
              </a:r>
              <a:r>
                <a:rPr lang="en-US" altLang="en-US" sz="1200" b="1" i="1">
                  <a:latin typeface="FreeSerif" panose="02020603050405020304"/>
                </a:rPr>
                <a:t>1000x parameter reduction</a:t>
              </a:r>
              <a:endParaRPr lang="en-US" altLang="en-US" sz="1200"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Show GaTaP enables </a:t>
              </a:r>
              <a:r>
                <a:rPr lang="en-US" altLang="en-US" sz="1200" b="1" i="1">
                  <a:latin typeface="FreeSerif" panose="02020603050405020304"/>
                </a:rPr>
                <a:t>few/zero-shot terrain switching</a:t>
              </a:r>
              <a:r>
                <a:rPr lang="en-US" altLang="en-US" sz="1200" i="1">
                  <a:latin typeface="FreeSerif" panose="02020603050405020304"/>
                </a:rPr>
                <a:t> with </a:t>
              </a:r>
              <a:r>
                <a:rPr lang="en-US" altLang="en-US" sz="1200" b="1" i="1">
                  <a:latin typeface="FreeSerif" panose="02020603050405020304"/>
                </a:rPr>
                <a:t>zero catastrophic forgetting</a:t>
              </a:r>
              <a:endParaRPr lang="en-US" altLang="en-US" sz="1200" i="1">
                <a:latin typeface="FreeSerif" panose="02020603050405020304"/>
              </a:endParaRPr>
            </a:p>
            <a:p>
              <a:pPr marL="228600" lvl="0" indent="-228600" algn="l">
                <a:lnSpc>
                  <a:spcPct val="200000"/>
                </a:lnSpc>
                <a:buFont typeface="Arial" panose="020B0604020202020204" pitchFamily="34" charset="0"/>
                <a:buAutoNum type="arabicPeriod"/>
              </a:pPr>
              <a:r>
                <a:rPr lang="en-US" altLang="en-US" sz="1200" i="1">
                  <a:latin typeface="FreeSerif" panose="02020603050405020304"/>
                </a:rPr>
                <a:t>Physical Hardware Validation:</a:t>
              </a:r>
              <a:endParaRPr lang="en-US" altLang="en-US" sz="1200"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Deply GaTaP-NCAP controllers on </a:t>
              </a:r>
              <a:r>
                <a:rPr lang="en-US" altLang="en-US" sz="1200" b="1" i="1">
                  <a:latin typeface="FreeSerif" panose="02020603050405020304"/>
                </a:rPr>
                <a:t>Unitree A1 quadrupeds</a:t>
              </a:r>
              <a:r>
                <a:rPr lang="en-US" altLang="en-US" sz="1200" i="1">
                  <a:latin typeface="FreeSerif" panose="02020603050405020304"/>
                </a:rPr>
                <a:t> and bipedal platforms</a:t>
              </a:r>
              <a:endParaRPr lang="en-US" altLang="en-US" sz="1200"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Demonstrate continual adaptation across changing environments</a:t>
              </a:r>
              <a:endParaRPr lang="en-US" altLang="en-US" sz="1200"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No policy retraining/simulator training</a:t>
              </a:r>
              <a:endParaRPr lang="en-US" altLang="en-US" sz="1200" i="1">
                <a:latin typeface="FreeSerif" panose="02020603050405020304"/>
              </a:endParaRPr>
            </a:p>
            <a:p>
              <a:pPr marL="228600" lvl="0" indent="-228600" algn="l">
                <a:lnSpc>
                  <a:spcPct val="200000"/>
                </a:lnSpc>
                <a:buFont typeface="Arial" panose="020B0604020202020204" pitchFamily="34" charset="0"/>
                <a:buAutoNum type="arabicPeriod"/>
              </a:pPr>
              <a:r>
                <a:rPr lang="en-US" altLang="en-US" sz="1200" i="1">
                  <a:latin typeface="FreeSerif" panose="02020603050405020304"/>
                </a:rPr>
                <a:t>Ultra-Low Compute (On Edge Devices):</a:t>
              </a:r>
              <a:endParaRPr lang="en-US" altLang="en-US" sz="1200"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Run complex locomotion policies on </a:t>
              </a:r>
              <a:r>
                <a:rPr lang="en-US" altLang="en-US" sz="1200" b="1" i="1">
                  <a:latin typeface="FreeSerif" panose="02020603050405020304"/>
                </a:rPr>
                <a:t>low-cost microcontroller/edge-chips</a:t>
              </a:r>
              <a:endParaRPr lang="en-US" altLang="en-US" sz="1200" b="1" i="1">
                <a:latin typeface="FreeSerif" panose="02020603050405020304"/>
              </a:endParaRPr>
            </a:p>
          </p:txBody>
        </p:sp>
        <p:sp>
          <p:nvSpPr>
            <p:cNvPr id="3" name="TextBox 6"/>
            <p:cNvSpPr txBox="1"/>
            <p:nvPr/>
          </p:nvSpPr>
          <p:spPr>
            <a:xfrm>
              <a:off x="114" y="5791"/>
              <a:ext cx="4700" cy="725"/>
            </a:xfrm>
            <a:prstGeom prst="rect">
              <a:avLst/>
            </a:prstGeom>
            <a:solidFill>
              <a:schemeClr val="tx1"/>
            </a:solid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indent="0" algn="ctr">
                <a:lnSpc>
                  <a:spcPct val="200000"/>
                </a:lnSpc>
                <a:buNone/>
              </a:pPr>
              <a:r>
                <a:rPr lang="en-US" altLang="en-US" sz="1200" b="1">
                  <a:solidFill>
                    <a:schemeClr val="bg1"/>
                  </a:solidFill>
                  <a:latin typeface="FreeSerif" panose="02020603050405020304"/>
                </a:rPr>
                <a:t>PHASE 1: PROOF OF CONCEPT (Months 0-18)</a:t>
              </a:r>
              <a:endParaRPr lang="en-US" altLang="en-US" sz="1200" b="1">
                <a:solidFill>
                  <a:schemeClr val="bg1"/>
                </a:solidFill>
                <a:latin typeface="FreeSerif" panose="02020603050405020304"/>
              </a:endParaRPr>
            </a:p>
          </p:txBody>
        </p:sp>
      </p:grpSp>
      <p:grpSp>
        <p:nvGrpSpPr>
          <p:cNvPr id="4" name="Group 3"/>
          <p:cNvGrpSpPr/>
          <p:nvPr/>
        </p:nvGrpSpPr>
        <p:grpSpPr>
          <a:xfrm>
            <a:off x="4348480" y="533400"/>
            <a:ext cx="3495675" cy="2913957"/>
            <a:chOff x="114" y="5791"/>
            <a:chExt cx="4700" cy="2975"/>
          </a:xfrm>
        </p:grpSpPr>
        <p:sp>
          <p:nvSpPr>
            <p:cNvPr id="5" name="TextBox 6"/>
            <p:cNvSpPr txBox="1"/>
            <p:nvPr/>
          </p:nvSpPr>
          <p:spPr>
            <a:xfrm>
              <a:off x="114" y="6787"/>
              <a:ext cx="4700" cy="1979"/>
            </a:xfrm>
            <a:prstGeom prst="rect">
              <a:avLst/>
            </a:prstGeom>
            <a:no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marL="228600" indent="-228600" algn="l">
                <a:lnSpc>
                  <a:spcPct val="200000"/>
                </a:lnSpc>
                <a:buAutoNum type="arabicPeriod"/>
              </a:pPr>
              <a:r>
                <a:rPr lang="en-US" altLang="en-US" sz="1200" b="1" i="1">
                  <a:latin typeface="FreeSerif" panose="02020603050405020304"/>
                </a:rPr>
                <a:t>Improve Metrics:</a:t>
              </a:r>
              <a:endParaRPr lang="en-US" altLang="en-US" sz="1200" b="1" i="1">
                <a:latin typeface="FreeSerif" panose="02020603050405020304"/>
              </a:endParaRPr>
            </a:p>
            <a:p>
              <a:pPr marL="685800" lvl="1" indent="-228600" algn="l">
                <a:lnSpc>
                  <a:spcPct val="200000"/>
                </a:lnSpc>
                <a:buFont typeface="Arial" panose="020B0604020202020204" pitchFamily="34" charset="0"/>
                <a:buChar char="•"/>
              </a:pPr>
              <a:r>
                <a:rPr lang="en-US" altLang="en-US" sz="1200" b="1" i="1">
                  <a:latin typeface="FreeSerif" panose="02020603050405020304"/>
                </a:rPr>
                <a:t>Improve sample efficiency by 10x</a:t>
              </a:r>
              <a:endParaRPr lang="en-US" altLang="en-US" sz="1200" b="1" i="1">
                <a:latin typeface="FreeSerif" panose="02020603050405020304"/>
              </a:endParaRPr>
            </a:p>
            <a:p>
              <a:pPr marL="685800" lvl="1" indent="-228600" algn="l">
                <a:lnSpc>
                  <a:spcPct val="200000"/>
                </a:lnSpc>
                <a:buFont typeface="Arial" panose="020B0604020202020204" pitchFamily="34" charset="0"/>
                <a:buChar char="•"/>
              </a:pPr>
              <a:r>
                <a:rPr lang="en-US" altLang="en-US" sz="1200" b="1" i="1">
                  <a:latin typeface="FreeSerif" panose="02020603050405020304"/>
                </a:rPr>
                <a:t>Improve parameter count by 100x</a:t>
              </a:r>
              <a:endParaRPr lang="en-US" altLang="en-US" sz="1200" b="1" i="1">
                <a:latin typeface="FreeSerif" panose="02020603050405020304"/>
              </a:endParaRPr>
            </a:p>
            <a:p>
              <a:pPr marL="685800" lvl="1" indent="-228600" algn="l">
                <a:lnSpc>
                  <a:spcPct val="200000"/>
                </a:lnSpc>
                <a:buFont typeface="Arial" panose="020B0604020202020204" pitchFamily="34" charset="0"/>
                <a:buChar char="•"/>
              </a:pPr>
              <a:r>
                <a:rPr lang="en-US" altLang="en-US" sz="1200" b="1" i="1">
                  <a:latin typeface="FreeSerif" panose="02020603050405020304"/>
                </a:rPr>
                <a:t>zero-shot sim-to-real transfer</a:t>
              </a:r>
              <a:endParaRPr lang="en-US" altLang="en-US" sz="1200" i="1">
                <a:latin typeface="FreeSerif" panose="02020603050405020304"/>
              </a:endParaRPr>
            </a:p>
            <a:p>
              <a:pPr marL="228600" lvl="0" indent="-228600" algn="l">
                <a:lnSpc>
                  <a:spcPct val="200000"/>
                </a:lnSpc>
                <a:buFont typeface="Arial" panose="020B0604020202020204" pitchFamily="34" charset="0"/>
                <a:buAutoNum type="arabicPeriod"/>
              </a:pPr>
              <a:r>
                <a:rPr lang="en-US" altLang="en-US" sz="1200" i="1">
                  <a:latin typeface="FreeSerif" panose="02020603050405020304"/>
                </a:rPr>
                <a:t>Raise More Funds:</a:t>
              </a:r>
              <a:endParaRPr lang="en-US" altLang="en-US" sz="1200" i="1">
                <a:latin typeface="FreeSerif" panose="02020603050405020304"/>
              </a:endParaRPr>
            </a:p>
          </p:txBody>
        </p:sp>
        <p:sp>
          <p:nvSpPr>
            <p:cNvPr id="6" name="TextBox 6"/>
            <p:cNvSpPr txBox="1"/>
            <p:nvPr/>
          </p:nvSpPr>
          <p:spPr>
            <a:xfrm>
              <a:off x="114" y="5791"/>
              <a:ext cx="4700" cy="847"/>
            </a:xfrm>
            <a:prstGeom prst="rect">
              <a:avLst/>
            </a:prstGeom>
            <a:solidFill>
              <a:schemeClr val="tx1"/>
            </a:solid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indent="0" algn="ctr">
                <a:lnSpc>
                  <a:spcPct val="200000"/>
                </a:lnSpc>
                <a:buNone/>
              </a:pPr>
              <a:r>
                <a:rPr lang="en-US" altLang="en-US" sz="1200" b="1">
                  <a:solidFill>
                    <a:schemeClr val="bg1"/>
                  </a:solidFill>
                  <a:latin typeface="FreeSerif" panose="02020603050405020304"/>
                </a:rPr>
                <a:t>PHASE 2: STRATEGIC FLYWHEEL </a:t>
              </a:r>
              <a:br>
                <a:rPr lang="en-US" altLang="en-US" sz="1200" b="1">
                  <a:solidFill>
                    <a:schemeClr val="bg1"/>
                  </a:solidFill>
                  <a:latin typeface="FreeSerif" panose="02020603050405020304"/>
                </a:rPr>
              </a:br>
              <a:r>
                <a:rPr lang="en-US" altLang="en-US" sz="1200" b="1">
                  <a:solidFill>
                    <a:schemeClr val="bg1"/>
                  </a:solidFill>
                  <a:latin typeface="FreeSerif" panose="02020603050405020304"/>
                </a:rPr>
                <a:t>(Months 18-24)</a:t>
              </a:r>
              <a:endParaRPr lang="en-US" altLang="en-US" sz="1200" b="1">
                <a:solidFill>
                  <a:schemeClr val="bg1"/>
                </a:solidFill>
                <a:latin typeface="FreeSerif" panose="02020603050405020304"/>
              </a:endParaRPr>
            </a:p>
          </p:txBody>
        </p:sp>
      </p:grpSp>
      <p:grpSp>
        <p:nvGrpSpPr>
          <p:cNvPr id="8" name="Group 7"/>
          <p:cNvGrpSpPr/>
          <p:nvPr/>
        </p:nvGrpSpPr>
        <p:grpSpPr>
          <a:xfrm>
            <a:off x="8374380" y="533400"/>
            <a:ext cx="3495675" cy="3308985"/>
            <a:chOff x="114" y="5791"/>
            <a:chExt cx="4700" cy="5211"/>
          </a:xfrm>
        </p:grpSpPr>
        <p:sp>
          <p:nvSpPr>
            <p:cNvPr id="9" name="TextBox 6"/>
            <p:cNvSpPr txBox="1"/>
            <p:nvPr/>
          </p:nvSpPr>
          <p:spPr>
            <a:xfrm>
              <a:off x="114" y="6787"/>
              <a:ext cx="4700" cy="4215"/>
            </a:xfrm>
            <a:prstGeom prst="rect">
              <a:avLst/>
            </a:prstGeom>
            <a:no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marL="228600" indent="-228600" algn="l">
                <a:lnSpc>
                  <a:spcPct val="200000"/>
                </a:lnSpc>
                <a:buAutoNum type="arabicPeriod"/>
              </a:pPr>
              <a:r>
                <a:rPr lang="en-US" altLang="en-US" sz="1200" b="1" i="1">
                  <a:latin typeface="FreeSerif" panose="02020603050405020304"/>
                </a:rPr>
                <a:t>Scale Beyond Motor-Control:</a:t>
              </a:r>
              <a:endParaRPr lang="en-US" altLang="en-US" sz="1200" b="1"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Extend to self-coordinating, multi-agent swarms</a:t>
              </a:r>
              <a:endParaRPr lang="en-US" altLang="en-US" sz="1200" i="1">
                <a:latin typeface="FreeSerif" panose="02020603050405020304"/>
              </a:endParaRPr>
            </a:p>
            <a:p>
              <a:pPr marL="228600" lvl="0" indent="-228600" algn="l">
                <a:lnSpc>
                  <a:spcPct val="200000"/>
                </a:lnSpc>
                <a:buFont typeface="Arial" panose="020B0604020202020204" pitchFamily="34" charset="0"/>
                <a:buAutoNum type="arabicPeriod"/>
              </a:pPr>
              <a:r>
                <a:rPr lang="en-US" altLang="en-US" sz="1200" i="1">
                  <a:latin typeface="FreeSerif" panose="02020603050405020304"/>
                </a:rPr>
                <a:t>Redundancy and Self-healing AI:</a:t>
              </a:r>
              <a:endParaRPr lang="en-US" altLang="en-US" sz="1200"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Research re-wiring and pruning of networks</a:t>
              </a:r>
              <a:endParaRPr lang="en-US" altLang="en-US" sz="1200" i="1">
                <a:latin typeface="FreeSerif" panose="02020603050405020304"/>
              </a:endParaRPr>
            </a:p>
            <a:p>
              <a:pPr marL="685800" lvl="1" indent="-228600" algn="l">
                <a:lnSpc>
                  <a:spcPct val="200000"/>
                </a:lnSpc>
                <a:buFont typeface="Arial" panose="020B0604020202020204" pitchFamily="34" charset="0"/>
                <a:buChar char="•"/>
              </a:pPr>
              <a:r>
                <a:rPr lang="en-US" altLang="en-US" sz="1200" i="1">
                  <a:latin typeface="FreeSerif" panose="02020603050405020304"/>
                </a:rPr>
                <a:t>Research adaptation to noise and hardware failures</a:t>
              </a:r>
              <a:endParaRPr lang="en-US" altLang="en-US" sz="1200" i="1">
                <a:latin typeface="FreeSerif" panose="02020603050405020304"/>
              </a:endParaRPr>
            </a:p>
          </p:txBody>
        </p:sp>
        <p:sp>
          <p:nvSpPr>
            <p:cNvPr id="10" name="TextBox 6"/>
            <p:cNvSpPr txBox="1"/>
            <p:nvPr/>
          </p:nvSpPr>
          <p:spPr>
            <a:xfrm>
              <a:off x="114" y="5791"/>
              <a:ext cx="4700" cy="725"/>
            </a:xfrm>
            <a:prstGeom prst="rect">
              <a:avLst/>
            </a:prstGeom>
            <a:solidFill>
              <a:schemeClr val="tx1"/>
            </a:solid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indent="0" algn="ctr">
                <a:lnSpc>
                  <a:spcPct val="200000"/>
                </a:lnSpc>
                <a:buNone/>
              </a:pPr>
              <a:r>
                <a:rPr lang="en-US" altLang="en-US" sz="1200" b="1">
                  <a:solidFill>
                    <a:schemeClr val="bg1"/>
                  </a:solidFill>
                  <a:latin typeface="FreeSerif" panose="02020603050405020304"/>
                </a:rPr>
                <a:t>PHASE 3: LONG TERM VISION (Years 2-5)</a:t>
              </a:r>
              <a:endParaRPr lang="en-US" altLang="en-US" sz="1200" b="1">
                <a:solidFill>
                  <a:schemeClr val="bg1"/>
                </a:solidFill>
                <a:latin typeface="FreeSerif" panose="02020603050405020304"/>
              </a:endParaRPr>
            </a:p>
          </p:txBody>
        </p:sp>
      </p:grpSp>
      <p:sp>
        <p:nvSpPr>
          <p:cNvPr id="11" name="Text Box 10"/>
          <p:cNvSpPr txBox="1"/>
          <p:nvPr/>
        </p:nvSpPr>
        <p:spPr>
          <a:xfrm>
            <a:off x="4224020" y="6059805"/>
            <a:ext cx="7576185" cy="737235"/>
          </a:xfrm>
          <a:prstGeom prst="rect">
            <a:avLst/>
          </a:prstGeom>
          <a:noFill/>
          <a:ln w="28575" cmpd="sng">
            <a:solidFill>
              <a:schemeClr val="tx1"/>
            </a:solidFill>
            <a:prstDash val="solid"/>
          </a:ln>
        </p:spPr>
        <p:txBody>
          <a:bodyPr wrap="square" rtlCol="0">
            <a:spAutoFit/>
          </a:bodyPr>
          <a:p>
            <a:pPr algn="ctr"/>
            <a:r>
              <a:rPr lang="en-US" sz="1400" i="1">
                <a:latin typeface="FreeSerif" panose="02020603050405020304" charset="0"/>
                <a:cs typeface="FreeSerif" panose="02020603050405020304" charset="0"/>
              </a:rPr>
              <a:t>"The future of AI is not larger black boxes—it is biological parsimony. By uniting neural circuit priors (NCAP) with modular continual gating (GaTaP), we build physical robots that learn like animals: stable on day one, computationally frugal, and capable of infinite lifelong adaptation."</a:t>
            </a:r>
            <a:endParaRPr lang="en-US" altLang="en-US" sz="1400" i="1">
              <a:latin typeface="FreeSerif" panose="02020603050405020304" charset="0"/>
              <a:cs typeface="FreeSerif" panose="020206030504050203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4479290" y="146050"/>
            <a:ext cx="3234055" cy="368300"/>
          </a:xfrm>
          <a:prstGeom prst="rect">
            <a:avLst/>
          </a:prstGeom>
          <a:noFill/>
        </p:spPr>
        <p:txBody>
          <a:bodyPr wrap="square" lIns="91440" tIns="45720" rIns="91440" bIns="45720" rtlCol="0" anchor="t">
            <a:spAutoFit/>
          </a:bodyPr>
          <a:p>
            <a:pPr algn="ctr"/>
            <a:r>
              <a:rPr lang="en-US" altLang="en-US" b="1" i="1" dirty="0">
                <a:latin typeface="FreeSerif" panose="02020603050405020304"/>
              </a:rPr>
              <a:t>$1Million Research</a:t>
            </a:r>
            <a:endParaRPr lang="en-US" altLang="en-US" b="1" i="1" dirty="0">
              <a:latin typeface="FreeSerif" panose="02020603050405020304"/>
            </a:endParaRPr>
          </a:p>
        </p:txBody>
      </p:sp>
      <p:grpSp>
        <p:nvGrpSpPr>
          <p:cNvPr id="42" name="Group 41"/>
          <p:cNvGrpSpPr/>
          <p:nvPr/>
        </p:nvGrpSpPr>
        <p:grpSpPr>
          <a:xfrm>
            <a:off x="200025" y="533400"/>
            <a:ext cx="11831955" cy="5648325"/>
            <a:chOff x="114" y="5791"/>
            <a:chExt cx="4700" cy="8895"/>
          </a:xfrm>
        </p:grpSpPr>
        <p:sp>
          <p:nvSpPr>
            <p:cNvPr id="43" name="TextBox 6"/>
            <p:cNvSpPr txBox="1"/>
            <p:nvPr/>
          </p:nvSpPr>
          <p:spPr>
            <a:xfrm>
              <a:off x="114" y="6787"/>
              <a:ext cx="4700" cy="7899"/>
            </a:xfrm>
            <a:prstGeom prst="rect">
              <a:avLst/>
            </a:prstGeom>
            <a:no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marL="228600" indent="-228600" algn="l">
                <a:lnSpc>
                  <a:spcPct val="250000"/>
                </a:lnSpc>
                <a:buAutoNum type="arabicPeriod"/>
              </a:pPr>
              <a:r>
                <a:rPr lang="en-US" altLang="en-US" sz="1600" b="1" i="1">
                  <a:latin typeface="FreeSerif" panose="02020603050405020304"/>
                </a:rPr>
                <a:t>Bhattasali, Nikhil X., et al. "Neural circuit architectural priors for quadruped locomotion." arXiv preprint arXiv:2410.07174 (2024).</a:t>
              </a:r>
              <a:endParaRPr lang="en-US" altLang="en-US" sz="1600" b="1" i="1">
                <a:latin typeface="FreeSerif" panose="02020603050405020304"/>
              </a:endParaRPr>
            </a:p>
            <a:p>
              <a:pPr marL="228600" indent="-228600" algn="l">
                <a:lnSpc>
                  <a:spcPct val="250000"/>
                </a:lnSpc>
                <a:buAutoNum type="arabicPeriod"/>
              </a:pPr>
              <a:r>
                <a:rPr lang="en-US" altLang="en-US" sz="1600" b="1" i="1">
                  <a:latin typeface="FreeSerif" panose="02020603050405020304"/>
                </a:rPr>
                <a:t>Njupoun, Abdel Mfougouon, et al. "Gated Target Propagation for Compositional Generalization in Continual Learning." arXiv preprint arXiv:2610.04649 (2026).</a:t>
              </a:r>
              <a:endParaRPr lang="en-US" altLang="en-US" sz="1600" b="1" i="1">
                <a:latin typeface="FreeSerif" panose="02020603050405020304"/>
              </a:endParaRPr>
            </a:p>
            <a:p>
              <a:pPr marL="228600" indent="-228600" algn="l">
                <a:lnSpc>
                  <a:spcPct val="250000"/>
                </a:lnSpc>
                <a:buAutoNum type="arabicPeriod"/>
              </a:pPr>
              <a:r>
                <a:rPr lang="en-US" altLang="en-US" sz="1600" b="1" i="1">
                  <a:latin typeface="FreeSerif" panose="02020603050405020304"/>
                </a:rPr>
                <a:t>Xu, Kunpeng, Lifei Chen, and Shengrui Wang. "Kolmogorov-arnold networks for time series: Bridging predictive power and interpretability." arXiv preprint arXiv:2406.02496 (2024).</a:t>
              </a:r>
              <a:endParaRPr lang="en-US" altLang="en-US" sz="1600" b="1" i="1">
                <a:latin typeface="FreeSerif" panose="02020603050405020304"/>
              </a:endParaRPr>
            </a:p>
            <a:p>
              <a:pPr marL="228600" indent="-228600" algn="l">
                <a:lnSpc>
                  <a:spcPct val="250000"/>
                </a:lnSpc>
                <a:buAutoNum type="arabicPeriod"/>
              </a:pPr>
              <a:r>
                <a:rPr lang="en-US" altLang="en-US" sz="1600" b="1" i="1">
                  <a:latin typeface="FreeSerif" panose="02020603050405020304"/>
                </a:rPr>
                <a:t>Ghosh, Marcus, and Dan FM Goodman. "Partially recurrent neural networks maximize performance and minimize wiring."</a:t>
              </a:r>
              <a:endParaRPr lang="en-US" altLang="en-US" sz="1600" b="1" i="1">
                <a:latin typeface="FreeSerif" panose="02020603050405020304"/>
              </a:endParaRPr>
            </a:p>
            <a:p>
              <a:pPr marL="228600" indent="-228600" algn="l">
                <a:lnSpc>
                  <a:spcPct val="250000"/>
                </a:lnSpc>
                <a:buAutoNum type="arabicPeriod"/>
              </a:pPr>
              <a:r>
                <a:rPr lang="en-US" altLang="en-US" sz="1600" b="1" i="1">
                  <a:latin typeface="FreeSerif" panose="02020603050405020304"/>
                </a:rPr>
                <a:t>Seyyedi, Azra, Mahdi Bohlouli, and SeyedEhsan Nedaaee Oskoee. "Self-organizing complex networks with AI-driven adaptive nodes for optimized connectivity and energy efficiency." Scientific Reports 15.1 (2025): 44527.</a:t>
              </a:r>
              <a:endParaRPr lang="en-US" altLang="en-US" sz="1600" b="1" i="1">
                <a:latin typeface="FreeSerif" panose="02020603050405020304"/>
              </a:endParaRPr>
            </a:p>
          </p:txBody>
        </p:sp>
        <p:sp>
          <p:nvSpPr>
            <p:cNvPr id="3" name="TextBox 6"/>
            <p:cNvSpPr txBox="1"/>
            <p:nvPr/>
          </p:nvSpPr>
          <p:spPr>
            <a:xfrm>
              <a:off x="114" y="5791"/>
              <a:ext cx="4700" cy="1113"/>
            </a:xfrm>
            <a:prstGeom prst="rect">
              <a:avLst/>
            </a:prstGeom>
            <a:solidFill>
              <a:schemeClr val="tx1"/>
            </a:solidFill>
            <a:ln w="12700" cmpd="sng">
              <a:solidFill>
                <a:schemeClr val="tx1"/>
              </a:solidFill>
              <a:prstDash val="dashDot"/>
            </a:ln>
          </p:spPr>
          <p:txBody>
            <a:bodyPr rot="0" spcFirstLastPara="0" vertOverflow="overflow" horzOverflow="overflow" vert="horz" wrap="square" lIns="91440" tIns="45720" rIns="91440" bIns="45720" numCol="1" spcCol="0" rtlCol="0" fromWordArt="0" anchor="t" anchorCtr="0" forceAA="0" compatLnSpc="1">
              <a:spAutoFit/>
            </a:bodyPr>
            <a:p>
              <a:pPr indent="0" algn="ctr">
                <a:lnSpc>
                  <a:spcPct val="250000"/>
                </a:lnSpc>
                <a:buNone/>
              </a:pPr>
              <a:r>
                <a:rPr lang="" altLang="en-US" sz="1600" b="1">
                  <a:solidFill>
                    <a:schemeClr val="bg1"/>
                  </a:solidFill>
                  <a:latin typeface="FreeSerif" panose="02020603050405020304"/>
                </a:rPr>
                <a:t>REFERENCES</a:t>
              </a:r>
              <a:endParaRPr lang="" altLang="en-US" sz="1600" b="1">
                <a:solidFill>
                  <a:schemeClr val="bg1"/>
                </a:solidFill>
                <a:latin typeface="FreeSerif" panose="02020603050405020304"/>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Text Box 4"/>
          <p:cNvSpPr txBox="1"/>
          <p:nvPr/>
        </p:nvSpPr>
        <p:spPr>
          <a:xfrm>
            <a:off x="2691130" y="2967990"/>
            <a:ext cx="6809740" cy="922020"/>
          </a:xfrm>
          <a:prstGeom prst="rect">
            <a:avLst/>
          </a:prstGeom>
          <a:noFill/>
        </p:spPr>
        <p:txBody>
          <a:bodyPr wrap="square" rtlCol="0">
            <a:spAutoFit/>
          </a:bodyPr>
          <a:p>
            <a:pPr algn="ctr"/>
            <a:r>
              <a:rPr lang="en-US" altLang="en-US" sz="5400" i="1">
                <a:latin typeface="FreeSerif" panose="02020603050405020304" charset="0"/>
                <a:cs typeface="FreeSerif" panose="02020603050405020304" charset="0"/>
              </a:rPr>
              <a:t>Thank You !!!</a:t>
            </a:r>
            <a:endParaRPr lang="en-US" altLang="en-US" sz="5400" i="1">
              <a:latin typeface="FreeSerif" panose="02020603050405020304" charset="0"/>
              <a:cs typeface="FreeSerif"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2817</Words>
  <Application>WPS Presentation</Application>
  <PresentationFormat>宽屏</PresentationFormat>
  <Paragraphs>106</Paragraphs>
  <Slides>8</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8</vt:i4>
      </vt:variant>
    </vt:vector>
  </HeadingPairs>
  <TitlesOfParts>
    <vt:vector size="20" baseType="lpstr">
      <vt:lpstr>Arial</vt:lpstr>
      <vt:lpstr>SimSun</vt:lpstr>
      <vt:lpstr>Wingdings</vt:lpstr>
      <vt:lpstr>FreeSerif</vt:lpstr>
      <vt:lpstr>Roboto</vt:lpstr>
      <vt:lpstr>等线</vt:lpstr>
      <vt:lpstr>宋体</vt:lpstr>
      <vt:lpstr>FreeSerif</vt:lpstr>
      <vt:lpstr>微软雅黑</vt:lpstr>
      <vt:lpstr>Arial Unicode MS</vt:lpstr>
      <vt:lpstr>Arial Black</vt:lpstr>
      <vt:lpstr>Office Theme</vt:lpstr>
      <vt:lpstr>Machine Learning Street Talk   The MLP Assumption, Inductive Biases, Self-organizing/Coordinating Networks</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petron</cp:lastModifiedBy>
  <cp:revision>23</cp:revision>
  <dcterms:created xsi:type="dcterms:W3CDTF">2026-10-22T20:37:41Z</dcterms:created>
  <dcterms:modified xsi:type="dcterms:W3CDTF">2026-10-22T20:37:41Z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1033-11.1.0.9505</vt:lpwstr>
  </property>
</Properties>
</file>