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1"/>
  </p:handoutMasterIdLst>
  <p:sldIdLst>
    <p:sldId id="257" r:id="rId3"/>
    <p:sldId id="258" r:id="rId4"/>
    <p:sldId id="263" r:id="rId5"/>
    <p:sldId id="264" r:id="rId7"/>
    <p:sldId id="265" r:id="rId8"/>
    <p:sldId id="267" r:id="rId9"/>
    <p:sldId id="262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10"/>
        <p:guide pos="388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pPr marL="685800" lvl="1" indent="-228600" algn="l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i="1">
                <a:latin typeface="FreeSerif" panose="02020603050405020304"/>
                <a:sym typeface="+mn-ea"/>
              </a:rPr>
              <a:t>Gaussian exploration noise added to action.</a:t>
            </a:r>
            <a:endParaRPr lang="en-US" altLang="en-US" i="1">
              <a:latin typeface="FreeSerif" panose="02020603050405020304"/>
            </a:endParaRPr>
          </a:p>
          <a:p>
            <a:pPr marL="685800" lvl="1" indent="-228600" algn="l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i="1">
                <a:latin typeface="FreeSerif" panose="02020603050405020304"/>
                <a:sym typeface="+mn-ea"/>
              </a:rPr>
              <a:t>Action repitition for R times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pPr marL="685800" lvl="1" indent="-228600" algn="l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Reconstruction term unchanged</a:t>
            </a:r>
            <a:endParaRPr lang="en-US" altLang="en-US"/>
          </a:p>
          <a:p>
            <a:pPr marL="685800" lvl="1" indent="-228600" algn="l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Latent overshooting is multi-step prediction including beta weighting factor inspired from beta-VAE</a:t>
            </a:r>
            <a:endParaRPr lang="en-US" altLang="en-US"/>
          </a:p>
          <a:p>
            <a:pPr marL="685800" lvl="1" indent="-228600" algn="l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beta can be shosen to make the model focus on long or short term predictions but is set to 1 for simplicity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466464"/>
            <a:ext cx="9144000" cy="2698115"/>
          </a:xfrm>
        </p:spPr>
        <p:txBody>
          <a:bodyPr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sz="3600" i="1" u="none" strike="noStrike">
                <a:solidFill>
                  <a:srgbClr val="000000"/>
                </a:solidFill>
                <a:latin typeface="FreeSerif" panose="02020603050405020304"/>
                <a:ea typeface="Roboto" panose="02000000000000000000"/>
                <a:cs typeface="Roboto" panose="02000000000000000000"/>
              </a:rPr>
              <a:t>Learning </a:t>
            </a:r>
            <a:r>
              <a:rPr lang="en-US" altLang="en-US" sz="3600" i="1">
                <a:solidFill>
                  <a:srgbClr val="000000"/>
                </a:solidFill>
                <a:latin typeface="FreeSerif" panose="02020603050405020304"/>
                <a:ea typeface="Roboto" panose="02000000000000000000"/>
                <a:cs typeface="Roboto" panose="02000000000000000000"/>
              </a:rPr>
              <a:t>Latent Dynamics For Planning from Pixels</a:t>
            </a:r>
            <a:br>
              <a:rPr lang="en-US" altLang="en-US" sz="3600" i="1">
                <a:solidFill>
                  <a:srgbClr val="000000"/>
                </a:solidFill>
                <a:latin typeface="FreeSerif" panose="02020603050405020304"/>
                <a:ea typeface="Roboto" panose="02000000000000000000"/>
                <a:cs typeface="Roboto" panose="02000000000000000000"/>
              </a:rPr>
            </a:br>
            <a:br>
              <a:rPr lang="en-US" altLang="en-US" sz="1200" i="1">
                <a:solidFill>
                  <a:srgbClr val="000000"/>
                </a:solidFill>
                <a:latin typeface="FreeSerif" panose="02020603050405020304"/>
                <a:ea typeface="Roboto" panose="02000000000000000000"/>
                <a:cs typeface="Roboto" panose="02000000000000000000"/>
              </a:rPr>
            </a:br>
            <a:br>
              <a:rPr lang="en-US" altLang="en-US" sz="2000" i="1">
                <a:solidFill>
                  <a:srgbClr val="000000"/>
                </a:solidFill>
                <a:latin typeface="FreeSerif" panose="02020603050405020304"/>
                <a:ea typeface="Roboto" panose="02000000000000000000"/>
                <a:cs typeface="Roboto" panose="02000000000000000000"/>
              </a:rPr>
            </a:br>
            <a:r>
              <a:rPr lang="en-US" altLang="en-US" sz="1200" i="1">
                <a:solidFill>
                  <a:srgbClr val="000000"/>
                </a:solidFill>
                <a:latin typeface="FreeSerif" panose="02020603050405020304"/>
                <a:ea typeface="Roboto" panose="02000000000000000000"/>
                <a:cs typeface="Roboto" panose="02000000000000000000"/>
              </a:rPr>
              <a:t>Danijar Hafner . Timothy Lillicrap . Ian Fischer . Ruben Villegas . David Ha. Honglak Lee . James Davidson</a:t>
            </a:r>
            <a:endParaRPr lang="en-US" altLang="en-US" sz="1200" i="1">
              <a:solidFill>
                <a:srgbClr val="000000"/>
              </a:solidFill>
              <a:latin typeface="FreeSerif" panose="02020603050405020304"/>
              <a:ea typeface="Roboto" panose="02000000000000000000"/>
              <a:cs typeface="Roboto" panose="0200000000000000000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24000" y="4843145"/>
            <a:ext cx="9144000" cy="1078865"/>
          </a:xfrm>
        </p:spPr>
        <p:txBody>
          <a:bodyPr anchor="ctr" anchorCtr="0"/>
          <a:lstStyle/>
          <a:p>
            <a:r>
              <a:rPr lang="x-none" altLang="zh-CN" b="1" i="1">
                <a:latin typeface="FreeSerif" panose="02020603050405020304"/>
                <a:ea typeface="等线"/>
                <a:cs typeface="FreeSerif" panose="02020603050405020304" charset="0"/>
              </a:rPr>
              <a:t>Emmanuel Olateju</a:t>
            </a:r>
            <a:endParaRPr lang="x-none" altLang="zh-CN" b="1" i="1">
              <a:latin typeface="FreeSerif" panose="02020603050405020304"/>
              <a:ea typeface="等线"/>
              <a:cs typeface="FreeSerif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671503" y="4119245"/>
            <a:ext cx="84899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1000" i="1">
                <a:latin typeface="FreeSerif" panose="02020603050405020304" charset="0"/>
                <a:cs typeface="FreeSerif" panose="02020603050405020304" charset="0"/>
              </a:rPr>
              <a:t>Presented By</a:t>
            </a:r>
            <a:endParaRPr lang="en-US" sz="1000" i="1">
              <a:latin typeface="FreeSerif" panose="02020603050405020304" charset="0"/>
              <a:cs typeface="FreeSerif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485515" y="238125"/>
            <a:ext cx="522033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en-US" b="1" i="1" dirty="0">
                <a:latin typeface="FreeSerif" panose="02020603050405020304"/>
              </a:rPr>
              <a:t>Overview</a:t>
            </a:r>
            <a:endParaRPr lang="en-US" altLang="en-US" i="1"/>
          </a:p>
        </p:txBody>
      </p:sp>
      <p:grpSp>
        <p:nvGrpSpPr>
          <p:cNvPr id="42" name="Group 41"/>
          <p:cNvGrpSpPr/>
          <p:nvPr/>
        </p:nvGrpSpPr>
        <p:grpSpPr>
          <a:xfrm>
            <a:off x="438150" y="1009650"/>
            <a:ext cx="3495675" cy="2360930"/>
            <a:chOff x="114" y="6121"/>
            <a:chExt cx="4700" cy="3718"/>
          </a:xfrm>
        </p:grpSpPr>
        <p:sp>
          <p:nvSpPr>
            <p:cNvPr id="43" name="TextBox 6"/>
            <p:cNvSpPr txBox="1"/>
            <p:nvPr/>
          </p:nvSpPr>
          <p:spPr>
            <a:xfrm>
              <a:off x="114" y="6787"/>
              <a:ext cx="4700" cy="305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Learning accurate models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Accumulating errors in multi-step predictions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Failure to capture multiple possible futures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Overconfident predictions outside training distribution</a:t>
              </a:r>
              <a:endParaRPr lang="en-US" altLang="en-US" sz="1200" i="1">
                <a:latin typeface="FreeSerif" panose="02020603050405020304"/>
              </a:endParaRPr>
            </a:p>
          </p:txBody>
        </p:sp>
        <p:sp>
          <p:nvSpPr>
            <p:cNvPr id="2" name="TextBox 6"/>
            <p:cNvSpPr txBox="1"/>
            <p:nvPr/>
          </p:nvSpPr>
          <p:spPr>
            <a:xfrm>
              <a:off x="114" y="6121"/>
              <a:ext cx="4700" cy="725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20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Planning In Unknown Environments- Challenges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38150" y="3594735"/>
            <a:ext cx="3495675" cy="2729865"/>
            <a:chOff x="114" y="6121"/>
            <a:chExt cx="4700" cy="4299"/>
          </a:xfrm>
        </p:grpSpPr>
        <p:sp>
          <p:nvSpPr>
            <p:cNvPr id="5" name="TextBox 6"/>
            <p:cNvSpPr txBox="1"/>
            <p:nvPr/>
          </p:nvSpPr>
          <p:spPr>
            <a:xfrm>
              <a:off x="114" y="6787"/>
              <a:ext cx="4700" cy="3633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More data efficient — richer training signal, no Bellman backups needed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Performance scales with compute budget for action search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Learned dynamics are task-independent — potential for transfer</a:t>
              </a:r>
              <a:endParaRPr lang="en-US" altLang="en-US" sz="1200" b="1" i="1">
                <a:latin typeface="FreeSerif" panose="02020603050405020304"/>
              </a:endParaRPr>
            </a:p>
          </p:txBody>
        </p:sp>
        <p:sp>
          <p:nvSpPr>
            <p:cNvPr id="8" name="TextBox 6"/>
            <p:cNvSpPr txBox="1"/>
            <p:nvPr/>
          </p:nvSpPr>
          <p:spPr>
            <a:xfrm>
              <a:off x="114" y="6121"/>
              <a:ext cx="4700" cy="725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20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Planning With Learned Dynamics - Advantages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22140" y="1774825"/>
            <a:ext cx="3495675" cy="3469005"/>
            <a:chOff x="114" y="6121"/>
            <a:chExt cx="4700" cy="5463"/>
          </a:xfrm>
        </p:grpSpPr>
        <p:sp>
          <p:nvSpPr>
            <p:cNvPr id="10" name="TextBox 6"/>
            <p:cNvSpPr txBox="1"/>
            <p:nvPr/>
          </p:nvSpPr>
          <p:spPr>
            <a:xfrm>
              <a:off x="114" y="6787"/>
              <a:ext cx="4700" cy="4797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Prior work assumes access to low-dimensional ground truth state of world and reward functions — not available from pixels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Success limited to simple tasks — cartpoles, 2-link arms, dense rewards only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Latent space models previously couldn't scale to contact dynamics, sparse rewards, or partial observability</a:t>
              </a:r>
              <a:endParaRPr lang="en-US" altLang="en-US" sz="1200" i="1">
                <a:latin typeface="FreeSerif" panose="02020603050405020304"/>
              </a:endParaRPr>
            </a:p>
          </p:txBody>
        </p:sp>
        <p:sp>
          <p:nvSpPr>
            <p:cNvPr id="11" name="TextBox 6"/>
            <p:cNvSpPr txBox="1"/>
            <p:nvPr/>
          </p:nvSpPr>
          <p:spPr>
            <a:xfrm>
              <a:off x="114" y="6121"/>
              <a:ext cx="4700" cy="725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20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Limitations of Existing Methods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  <p:sp>
        <p:nvSpPr>
          <p:cNvPr id="25" name="Text Box 24"/>
          <p:cNvSpPr txBox="1"/>
          <p:nvPr/>
        </p:nvSpPr>
        <p:spPr>
          <a:xfrm>
            <a:off x="4422140" y="5416550"/>
            <a:ext cx="34950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400" b="1" i="1">
                <a:latin typeface="FreeSerif" panose="02020603050405020304" charset="0"/>
                <a:cs typeface="FreeSerif" panose="02020603050405020304" charset="0"/>
              </a:rPr>
              <a:t>"Can we learn a dynamics model purely from pixel observations that is accurate enough for planning?"</a:t>
            </a:r>
            <a:endParaRPr lang="en-US" altLang="en-US" sz="1400" b="1" i="1">
              <a:latin typeface="FreeSerif" panose="02020603050405020304" charset="0"/>
              <a:cs typeface="FreeSerif" panose="0202060305040502030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383270" y="2064385"/>
            <a:ext cx="3495675" cy="1991360"/>
            <a:chOff x="114" y="6121"/>
            <a:chExt cx="4700" cy="3136"/>
          </a:xfrm>
        </p:grpSpPr>
        <p:sp>
          <p:nvSpPr>
            <p:cNvPr id="12" name="TextBox 6"/>
            <p:cNvSpPr txBox="1"/>
            <p:nvPr/>
          </p:nvSpPr>
          <p:spPr>
            <a:xfrm>
              <a:off x="114" y="6787"/>
              <a:ext cx="4700" cy="247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Learning of environment dynamics from images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Fast online planning in latent space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Multi-step prediction of rewards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Latent overshooting - variational inference</a:t>
              </a:r>
              <a:endParaRPr lang="en-US" altLang="en-US" sz="1200" i="1">
                <a:latin typeface="FreeSerif" panose="02020603050405020304"/>
              </a:endParaRPr>
            </a:p>
          </p:txBody>
        </p:sp>
        <p:sp>
          <p:nvSpPr>
            <p:cNvPr id="13" name="TextBox 6"/>
            <p:cNvSpPr txBox="1"/>
            <p:nvPr/>
          </p:nvSpPr>
          <p:spPr>
            <a:xfrm>
              <a:off x="114" y="6121"/>
              <a:ext cx="4700" cy="725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20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PlaNet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478655" y="146050"/>
            <a:ext cx="323405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en-US" b="1" i="1" dirty="0">
                <a:latin typeface="FreeSerif" panose="02020603050405020304"/>
              </a:rPr>
              <a:t>Model-Predictive Control (MPC)</a:t>
            </a:r>
            <a:endParaRPr lang="en-US" altLang="en-US" i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965" y="1422400"/>
            <a:ext cx="1444625" cy="196850"/>
          </a:xfrm>
          <a:prstGeom prst="rect">
            <a:avLst/>
          </a:prstGeom>
        </p:spPr>
      </p:pic>
      <p:cxnSp>
        <p:nvCxnSpPr>
          <p:cNvPr id="7" name="Straight Arrow Connector 6"/>
          <p:cNvCxnSpPr>
            <a:stCxn id="16" idx="3"/>
            <a:endCxn id="8" idx="1"/>
          </p:cNvCxnSpPr>
          <p:nvPr/>
        </p:nvCxnSpPr>
        <p:spPr>
          <a:xfrm flipV="1">
            <a:off x="1711960" y="1803400"/>
            <a:ext cx="1236980" cy="889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2948940" y="1619250"/>
            <a:ext cx="3206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东文宋体" charset="0"/>
              </a:rPr>
              <a:t>●</a:t>
            </a:r>
            <a:endParaRPr lang="en-US">
              <a:latin typeface="东文宋体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610" y="1958975"/>
            <a:ext cx="1276350" cy="19939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4850765" y="1619250"/>
            <a:ext cx="3206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东文宋体" charset="0"/>
              </a:rPr>
              <a:t>●</a:t>
            </a:r>
            <a:endParaRPr lang="en-US">
              <a:latin typeface="东文宋体" charset="0"/>
            </a:endParaRPr>
          </a:p>
        </p:txBody>
      </p:sp>
      <p:cxnSp>
        <p:nvCxnSpPr>
          <p:cNvPr id="11" name="Straight Arrow Connector 10"/>
          <p:cNvCxnSpPr>
            <a:stCxn id="8" idx="3"/>
            <a:endCxn id="10" idx="1"/>
          </p:cNvCxnSpPr>
          <p:nvPr/>
        </p:nvCxnSpPr>
        <p:spPr>
          <a:xfrm>
            <a:off x="3269615" y="1812925"/>
            <a:ext cx="158115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10" idx="0"/>
            <a:endCxn id="16" idx="0"/>
          </p:cNvCxnSpPr>
          <p:nvPr/>
        </p:nvCxnSpPr>
        <p:spPr>
          <a:xfrm rot="16200000" flipH="1" flipV="1">
            <a:off x="2989580" y="-375285"/>
            <a:ext cx="27305" cy="4016375"/>
          </a:xfrm>
          <a:prstGeom prst="bentConnector3">
            <a:avLst>
              <a:gd name="adj1" fmla="val -2158139"/>
            </a:avLst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485" y="3077210"/>
            <a:ext cx="997585" cy="21780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948940" y="2710815"/>
            <a:ext cx="3206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东文宋体" charset="0"/>
              </a:rPr>
              <a:t>●</a:t>
            </a:r>
            <a:endParaRPr lang="en-US">
              <a:latin typeface="东文宋体" charset="0"/>
            </a:endParaRPr>
          </a:p>
        </p:txBody>
      </p:sp>
      <p:cxnSp>
        <p:nvCxnSpPr>
          <p:cNvPr id="15" name="Straight Arrow Connector 14"/>
          <p:cNvCxnSpPr>
            <a:stCxn id="8" idx="2"/>
            <a:endCxn id="14" idx="0"/>
          </p:cNvCxnSpPr>
          <p:nvPr/>
        </p:nvCxnSpPr>
        <p:spPr>
          <a:xfrm>
            <a:off x="3109595" y="1997075"/>
            <a:ext cx="0" cy="72326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" y="1646555"/>
            <a:ext cx="1433830" cy="331470"/>
          </a:xfrm>
          <a:prstGeom prst="rect">
            <a:avLst/>
          </a:prstGeom>
        </p:spPr>
      </p:pic>
      <p:cxnSp>
        <p:nvCxnSpPr>
          <p:cNvPr id="17" name="Elbow Connector 16"/>
          <p:cNvCxnSpPr>
            <a:stCxn id="14" idx="1"/>
            <a:endCxn id="16" idx="2"/>
          </p:cNvCxnSpPr>
          <p:nvPr/>
        </p:nvCxnSpPr>
        <p:spPr>
          <a:xfrm rot="10800000">
            <a:off x="995045" y="1987550"/>
            <a:ext cx="1953895" cy="916940"/>
          </a:xfrm>
          <a:prstGeom prst="bentConnector2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3520" y="2626360"/>
            <a:ext cx="1954530" cy="5365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822700" y="2597785"/>
            <a:ext cx="2358390" cy="60198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9" idx="2"/>
            <a:endCxn id="19" idx="0"/>
          </p:cNvCxnSpPr>
          <p:nvPr/>
        </p:nvCxnSpPr>
        <p:spPr>
          <a:xfrm flipH="1">
            <a:off x="5001895" y="2167890"/>
            <a:ext cx="8890" cy="4394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4" idx="3"/>
            <a:endCxn id="19" idx="1"/>
          </p:cNvCxnSpPr>
          <p:nvPr/>
        </p:nvCxnSpPr>
        <p:spPr>
          <a:xfrm>
            <a:off x="3269615" y="2904490"/>
            <a:ext cx="553085" cy="381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701040" y="3886835"/>
            <a:ext cx="2663825" cy="2618740"/>
            <a:chOff x="114" y="6121"/>
            <a:chExt cx="4700" cy="4124"/>
          </a:xfrm>
        </p:grpSpPr>
        <p:sp>
          <p:nvSpPr>
            <p:cNvPr id="24" name="TextBox 6"/>
            <p:cNvSpPr txBox="1"/>
            <p:nvPr/>
          </p:nvSpPr>
          <p:spPr>
            <a:xfrm>
              <a:off x="114" y="6787"/>
              <a:ext cx="4700" cy="3458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190000"/>
                </a:lnSpc>
                <a:buAutoNum type="arabicPeriod"/>
              </a:pPr>
              <a:r>
                <a:rPr lang="en-US" altLang="en-US" sz="1200" i="1">
                  <a:solidFill>
                    <a:schemeClr val="bg1">
                      <a:lumMod val="65000"/>
                    </a:schemeClr>
                  </a:solidFill>
                  <a:latin typeface="FreeSerif" panose="02020603050405020304"/>
                </a:rPr>
                <a:t>Fixed starting point or state 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19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Predict future behavior using dynamic system model (transition model)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19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Optimize action sequences (over a planning horizon) to maximize expected cumulative reward</a:t>
              </a:r>
              <a:endParaRPr lang="en-US" altLang="en-US" sz="1200" i="1">
                <a:latin typeface="FreeSerif" panose="02020603050405020304"/>
              </a:endParaRPr>
            </a:p>
          </p:txBody>
        </p:sp>
        <p:sp>
          <p:nvSpPr>
            <p:cNvPr id="22" name="TextBox 6"/>
            <p:cNvSpPr txBox="1"/>
            <p:nvPr/>
          </p:nvSpPr>
          <p:spPr>
            <a:xfrm>
              <a:off x="114" y="6121"/>
              <a:ext cx="4700" cy="696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19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MPC Summary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  <p:sp>
        <p:nvSpPr>
          <p:cNvPr id="25" name="Text Box 24"/>
          <p:cNvSpPr txBox="1"/>
          <p:nvPr/>
        </p:nvSpPr>
        <p:spPr>
          <a:xfrm>
            <a:off x="2011045" y="779145"/>
            <a:ext cx="208851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1000" b="1" i="1">
                <a:latin typeface="FreeSerif" panose="02020603050405020304" charset="0"/>
                <a:cs typeface="FreeSerif" panose="02020603050405020304" charset="0"/>
              </a:rPr>
              <a:t>“Repeat after each new observation”</a:t>
            </a:r>
            <a:endParaRPr lang="en-US" altLang="en-US" sz="1000" b="1" i="1">
              <a:latin typeface="FreeSerif" panose="02020603050405020304" charset="0"/>
              <a:cs typeface="FreeSerif" panose="0202060305040502030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566795" y="3886835"/>
            <a:ext cx="2663825" cy="2267585"/>
            <a:chOff x="114" y="6121"/>
            <a:chExt cx="4700" cy="3571"/>
          </a:xfrm>
        </p:grpSpPr>
        <p:sp>
          <p:nvSpPr>
            <p:cNvPr id="27" name="TextBox 6"/>
            <p:cNvSpPr txBox="1"/>
            <p:nvPr/>
          </p:nvSpPr>
          <p:spPr>
            <a:xfrm>
              <a:off x="114" y="6787"/>
              <a:ext cx="4700" cy="2905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19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Initial S-seed episodes collected using random actions.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19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Model training on collected experience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19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New episode added to dataset every C training steps</a:t>
              </a:r>
              <a:endParaRPr lang="en-US" altLang="en-US" sz="1000" i="1">
                <a:latin typeface="FreeSerif" panose="02020603050405020304"/>
              </a:endParaRPr>
            </a:p>
          </p:txBody>
        </p:sp>
        <p:sp>
          <p:nvSpPr>
            <p:cNvPr id="28" name="TextBox 6"/>
            <p:cNvSpPr txBox="1"/>
            <p:nvPr/>
          </p:nvSpPr>
          <p:spPr>
            <a:xfrm>
              <a:off x="114" y="6121"/>
              <a:ext cx="4700" cy="696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19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Data Collection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097395" y="514350"/>
            <a:ext cx="4375150" cy="5829300"/>
            <a:chOff x="11177" y="810"/>
            <a:chExt cx="6890" cy="9180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825" y="810"/>
              <a:ext cx="6243" cy="9181"/>
            </a:xfrm>
            <a:prstGeom prst="rect">
              <a:avLst/>
            </a:prstGeom>
          </p:spPr>
        </p:pic>
        <p:sp>
          <p:nvSpPr>
            <p:cNvPr id="32" name="Text Box 31"/>
            <p:cNvSpPr txBox="1"/>
            <p:nvPr/>
          </p:nvSpPr>
          <p:spPr>
            <a:xfrm>
              <a:off x="11177" y="3220"/>
              <a:ext cx="64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>
                  <a:latin typeface="东文宋体" charset="0"/>
                </a:rPr>
                <a:t>◆</a:t>
              </a:r>
              <a:endParaRPr lang="en-US">
                <a:latin typeface="东文宋体" charset="0"/>
              </a:endParaRPr>
            </a:p>
          </p:txBody>
        </p:sp>
        <p:sp>
          <p:nvSpPr>
            <p:cNvPr id="33" name="Text Box 32"/>
            <p:cNvSpPr txBox="1"/>
            <p:nvPr/>
          </p:nvSpPr>
          <p:spPr>
            <a:xfrm>
              <a:off x="11177" y="4181"/>
              <a:ext cx="64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>
                  <a:latin typeface="东文宋体" charset="0"/>
                </a:rPr>
                <a:t>◆</a:t>
              </a:r>
              <a:endParaRPr lang="en-US">
                <a:latin typeface="东文宋体" charset="0"/>
              </a:endParaRPr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11177" y="5301"/>
              <a:ext cx="64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>
                  <a:latin typeface="东文宋体" charset="0"/>
                </a:rPr>
                <a:t>◆</a:t>
              </a:r>
              <a:endParaRPr lang="en-US">
                <a:latin typeface="东文宋体" charset="0"/>
              </a:endParaRPr>
            </a:p>
          </p:txBody>
        </p:sp>
        <p:sp>
          <p:nvSpPr>
            <p:cNvPr id="35" name="Text Box 34"/>
            <p:cNvSpPr txBox="1"/>
            <p:nvPr/>
          </p:nvSpPr>
          <p:spPr>
            <a:xfrm>
              <a:off x="11177" y="6533"/>
              <a:ext cx="64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>
                  <a:latin typeface="东文宋体" charset="0"/>
                </a:rPr>
                <a:t>◆</a:t>
              </a:r>
              <a:endParaRPr lang="en-US">
                <a:latin typeface="东文宋体" charset="0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5584825" y="3458845"/>
            <a:ext cx="14141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1200" b="1">
                <a:latin typeface="FreeSerif" panose="02020603050405020304" charset="0"/>
                <a:cs typeface="FreeSerif" panose="02020603050405020304" charset="0"/>
              </a:rPr>
              <a:t>Planning Objective</a:t>
            </a:r>
            <a:endParaRPr lang="en-US" altLang="en-US" sz="1200" b="1">
              <a:latin typeface="FreeSerif" panose="02020603050405020304" charset="0"/>
              <a:cs typeface="FreeSerif" panose="02020603050405020304" charset="0"/>
            </a:endParaRPr>
          </a:p>
        </p:txBody>
      </p:sp>
      <p:cxnSp>
        <p:nvCxnSpPr>
          <p:cNvPr id="3" name="Curved Connector 2"/>
          <p:cNvCxnSpPr>
            <a:stCxn id="2" idx="1"/>
            <a:endCxn id="19" idx="2"/>
          </p:cNvCxnSpPr>
          <p:nvPr/>
        </p:nvCxnSpPr>
        <p:spPr>
          <a:xfrm rot="10800000">
            <a:off x="5001895" y="3199130"/>
            <a:ext cx="582930" cy="396875"/>
          </a:xfrm>
          <a:prstGeom prst="curvedConnector2">
            <a:avLst/>
          </a:prstGeom>
          <a:ln>
            <a:solidFill>
              <a:srgbClr val="20202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6007100" y="1370965"/>
            <a:ext cx="5702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1200" b="1">
                <a:latin typeface="FreeSerif" panose="02020603050405020304" charset="0"/>
                <a:cs typeface="FreeSerif" panose="02020603050405020304" charset="0"/>
              </a:rPr>
              <a:t>Policy</a:t>
            </a:r>
            <a:endParaRPr lang="en-US" altLang="en-US" sz="1200" b="1">
              <a:latin typeface="FreeSerif" panose="02020603050405020304" charset="0"/>
              <a:cs typeface="FreeSerif" panose="02020603050405020304" charset="0"/>
            </a:endParaRPr>
          </a:p>
        </p:txBody>
      </p:sp>
      <p:cxnSp>
        <p:nvCxnSpPr>
          <p:cNvPr id="31" name="Curved Connector 30"/>
          <p:cNvCxnSpPr>
            <a:stCxn id="6" idx="2"/>
            <a:endCxn id="9" idx="3"/>
          </p:cNvCxnSpPr>
          <p:nvPr/>
        </p:nvCxnSpPr>
        <p:spPr>
          <a:xfrm rot="5400000">
            <a:off x="5764530" y="1530350"/>
            <a:ext cx="412115" cy="643255"/>
          </a:xfrm>
          <a:prstGeom prst="curvedConnector2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478655" y="140335"/>
            <a:ext cx="323405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en-US" b="1" i="1" dirty="0">
                <a:latin typeface="FreeSerif" panose="02020603050405020304"/>
              </a:rPr>
              <a:t>PlaNet</a:t>
            </a:r>
            <a:endParaRPr lang="en-US" altLang="en-US" b="1" i="1" dirty="0">
              <a:latin typeface="FreeSerif" panose="02020603050405020304"/>
            </a:endParaRPr>
          </a:p>
        </p:txBody>
      </p:sp>
      <p:cxnSp>
        <p:nvCxnSpPr>
          <p:cNvPr id="7" name="Straight Arrow Connector 6"/>
          <p:cNvCxnSpPr>
            <a:stCxn id="16" idx="3"/>
            <a:endCxn id="8" idx="1"/>
          </p:cNvCxnSpPr>
          <p:nvPr/>
        </p:nvCxnSpPr>
        <p:spPr>
          <a:xfrm flipV="1">
            <a:off x="1702435" y="2974975"/>
            <a:ext cx="1236980" cy="8890"/>
          </a:xfrm>
          <a:prstGeom prst="straightConnector1">
            <a:avLst/>
          </a:prstGeom>
          <a:ln>
            <a:headEnd type="triangl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2939415" y="2790825"/>
            <a:ext cx="3206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东文宋体" charset="0"/>
              </a:rPr>
              <a:t>●</a:t>
            </a:r>
            <a:endParaRPr lang="en-US">
              <a:latin typeface="东文宋体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3085" y="3130550"/>
            <a:ext cx="1276350" cy="19939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4841240" y="2790825"/>
            <a:ext cx="3206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东文宋体" charset="0"/>
              </a:rPr>
              <a:t>●</a:t>
            </a:r>
            <a:endParaRPr lang="en-US">
              <a:latin typeface="东文宋体" charset="0"/>
            </a:endParaRPr>
          </a:p>
        </p:txBody>
      </p:sp>
      <p:cxnSp>
        <p:nvCxnSpPr>
          <p:cNvPr id="11" name="Straight Arrow Connector 10"/>
          <p:cNvCxnSpPr>
            <a:stCxn id="8" idx="3"/>
            <a:endCxn id="10" idx="1"/>
          </p:cNvCxnSpPr>
          <p:nvPr/>
        </p:nvCxnSpPr>
        <p:spPr>
          <a:xfrm>
            <a:off x="3269615" y="2974975"/>
            <a:ext cx="158115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10" idx="0"/>
            <a:endCxn id="16" idx="0"/>
          </p:cNvCxnSpPr>
          <p:nvPr/>
        </p:nvCxnSpPr>
        <p:spPr>
          <a:xfrm rot="16200000" flipH="1" flipV="1">
            <a:off x="2980055" y="796290"/>
            <a:ext cx="27305" cy="4016375"/>
          </a:xfrm>
          <a:prstGeom prst="bentConnector3">
            <a:avLst>
              <a:gd name="adj1" fmla="val -7413953"/>
            </a:avLst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960" y="4248785"/>
            <a:ext cx="997585" cy="21780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939415" y="3882390"/>
            <a:ext cx="3206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东文宋体" charset="0"/>
              </a:rPr>
              <a:t>●</a:t>
            </a:r>
            <a:endParaRPr lang="en-US">
              <a:latin typeface="东文宋体" charset="0"/>
            </a:endParaRPr>
          </a:p>
        </p:txBody>
      </p:sp>
      <p:cxnSp>
        <p:nvCxnSpPr>
          <p:cNvPr id="15" name="Straight Arrow Connector 14"/>
          <p:cNvCxnSpPr>
            <a:stCxn id="8" idx="2"/>
            <a:endCxn id="14" idx="0"/>
          </p:cNvCxnSpPr>
          <p:nvPr/>
        </p:nvCxnSpPr>
        <p:spPr>
          <a:xfrm>
            <a:off x="3109595" y="3159125"/>
            <a:ext cx="0" cy="72326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" y="2818130"/>
            <a:ext cx="1433830" cy="331470"/>
          </a:xfrm>
          <a:prstGeom prst="rect">
            <a:avLst/>
          </a:prstGeom>
        </p:spPr>
      </p:pic>
      <p:cxnSp>
        <p:nvCxnSpPr>
          <p:cNvPr id="17" name="Elbow Connector 16"/>
          <p:cNvCxnSpPr>
            <a:stCxn id="14" idx="1"/>
            <a:endCxn id="16" idx="2"/>
          </p:cNvCxnSpPr>
          <p:nvPr/>
        </p:nvCxnSpPr>
        <p:spPr>
          <a:xfrm rot="10800000">
            <a:off x="995045" y="3149600"/>
            <a:ext cx="1953895" cy="916940"/>
          </a:xfrm>
          <a:prstGeom prst="bentConnector2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995" y="3797935"/>
            <a:ext cx="1954530" cy="5365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813175" y="3769360"/>
            <a:ext cx="2358390" cy="60198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9" idx="2"/>
            <a:endCxn id="19" idx="0"/>
          </p:cNvCxnSpPr>
          <p:nvPr/>
        </p:nvCxnSpPr>
        <p:spPr>
          <a:xfrm flipH="1">
            <a:off x="5001895" y="3329940"/>
            <a:ext cx="8890" cy="4394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4" idx="3"/>
            <a:endCxn id="19" idx="1"/>
          </p:cNvCxnSpPr>
          <p:nvPr/>
        </p:nvCxnSpPr>
        <p:spPr>
          <a:xfrm>
            <a:off x="3269615" y="4066540"/>
            <a:ext cx="553085" cy="381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 Box 24"/>
          <p:cNvSpPr txBox="1"/>
          <p:nvPr/>
        </p:nvSpPr>
        <p:spPr>
          <a:xfrm>
            <a:off x="2056130" y="508635"/>
            <a:ext cx="208851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1000" b="1" i="1">
                <a:latin typeface="FreeSerif" panose="02020603050405020304" charset="0"/>
                <a:cs typeface="FreeSerif" panose="02020603050405020304" charset="0"/>
              </a:rPr>
              <a:t>“Repeat after each new observation”</a:t>
            </a:r>
            <a:endParaRPr lang="en-US" altLang="en-US" sz="1000" b="1" i="1">
              <a:latin typeface="FreeSerif" panose="02020603050405020304" charset="0"/>
              <a:cs typeface="FreeSerif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5370" y="2233295"/>
            <a:ext cx="1550670" cy="476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960" y="1128395"/>
            <a:ext cx="1005840" cy="2165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939415" y="1344930"/>
            <a:ext cx="3206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东文宋体" charset="0"/>
              </a:rPr>
              <a:t>●</a:t>
            </a:r>
            <a:endParaRPr lang="en-US">
              <a:latin typeface="东文宋体" charset="0"/>
            </a:endParaRPr>
          </a:p>
        </p:txBody>
      </p:sp>
      <p:cxnSp>
        <p:nvCxnSpPr>
          <p:cNvPr id="30" name="Straight Arrow Connector 29"/>
          <p:cNvCxnSpPr>
            <a:stCxn id="6" idx="2"/>
            <a:endCxn id="2" idx="0"/>
          </p:cNvCxnSpPr>
          <p:nvPr/>
        </p:nvCxnSpPr>
        <p:spPr>
          <a:xfrm>
            <a:off x="3109595" y="1713230"/>
            <a:ext cx="635" cy="5200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1428750" y="1344295"/>
            <a:ext cx="695960" cy="368300"/>
            <a:chOff x="2265" y="2552"/>
            <a:chExt cx="1096" cy="580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93" y="2580"/>
              <a:ext cx="960" cy="526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2265" y="2552"/>
              <a:ext cx="1096" cy="581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cxnSp>
        <p:nvCxnSpPr>
          <p:cNvPr id="40" name="Straight Arrow Connector 39"/>
          <p:cNvCxnSpPr>
            <a:stCxn id="38" idx="3"/>
            <a:endCxn id="6" idx="1"/>
          </p:cNvCxnSpPr>
          <p:nvPr/>
        </p:nvCxnSpPr>
        <p:spPr>
          <a:xfrm>
            <a:off x="2134235" y="1529080"/>
            <a:ext cx="81470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16" idx="1"/>
            <a:endCxn id="38" idx="1"/>
          </p:cNvCxnSpPr>
          <p:nvPr/>
        </p:nvCxnSpPr>
        <p:spPr>
          <a:xfrm rot="10800000" flipH="1">
            <a:off x="278130" y="1529080"/>
            <a:ext cx="1160145" cy="1454785"/>
          </a:xfrm>
          <a:prstGeom prst="bentConnector3">
            <a:avLst>
              <a:gd name="adj1" fmla="val -20525"/>
            </a:avLst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6420485" y="753745"/>
            <a:ext cx="2663825" cy="3615055"/>
            <a:chOff x="114" y="6121"/>
            <a:chExt cx="4700" cy="5693"/>
          </a:xfrm>
        </p:grpSpPr>
        <p:sp>
          <p:nvSpPr>
            <p:cNvPr id="43" name="TextBox 6"/>
            <p:cNvSpPr txBox="1"/>
            <p:nvPr/>
          </p:nvSpPr>
          <p:spPr>
            <a:xfrm>
              <a:off x="114" y="6787"/>
              <a:ext cx="4700" cy="5027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14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Trained using a VAE-style variational objective (encoder + decoder)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14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Encoder infers</a:t>
              </a:r>
              <a:r>
                <a:rPr lang="en-US" altLang="en-US" sz="1200" i="1">
                  <a:latin typeface="FreeSerif" panose="02020603050405020304"/>
                </a:rPr>
                <a:t> </a:t>
              </a:r>
              <a:r>
                <a:rPr lang="en-US" altLang="en-US" sz="1200" b="1" i="1">
                  <a:latin typeface="FreeSerif" panose="02020603050405020304"/>
                </a:rPr>
                <a:t>approximate posterior state belief from observation history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14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Learned latent dynamics model predicts future states</a:t>
              </a:r>
              <a:r>
                <a:rPr lang="en-US" altLang="en-US" sz="1200" i="1">
                  <a:latin typeface="FreeSerif" panose="02020603050405020304"/>
                </a:rPr>
                <a:t> without generating images </a:t>
              </a:r>
              <a:r>
                <a:rPr lang="en-US" altLang="en-US" sz="1200" b="1" i="1">
                  <a:latin typeface="FreeSerif" panose="02020603050405020304"/>
                </a:rPr>
                <a:t>enabling fast planning in latent space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14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Observation model provides a rich training signal but is excluded from planning</a:t>
              </a:r>
              <a:endParaRPr lang="en-US" altLang="en-US" sz="1200" i="1">
                <a:latin typeface="FreeSerif" panose="02020603050405020304"/>
              </a:endParaRPr>
            </a:p>
          </p:txBody>
        </p:sp>
        <p:sp>
          <p:nvSpPr>
            <p:cNvPr id="44" name="TextBox 6"/>
            <p:cNvSpPr txBox="1"/>
            <p:nvPr/>
          </p:nvSpPr>
          <p:spPr>
            <a:xfrm>
              <a:off x="114" y="6121"/>
              <a:ext cx="4700" cy="550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14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PlaNet Summary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9212580" y="753745"/>
            <a:ext cx="2753360" cy="2839720"/>
            <a:chOff x="114" y="6121"/>
            <a:chExt cx="4700" cy="4472"/>
          </a:xfrm>
        </p:grpSpPr>
        <p:sp>
          <p:nvSpPr>
            <p:cNvPr id="46" name="TextBox 6"/>
            <p:cNvSpPr txBox="1"/>
            <p:nvPr/>
          </p:nvSpPr>
          <p:spPr>
            <a:xfrm>
              <a:off x="114" y="6787"/>
              <a:ext cx="4700" cy="3806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14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Transition Model (RSSM):</a:t>
              </a:r>
              <a:r>
                <a:rPr lang="en-US" altLang="en-US" sz="1200" i="1">
                  <a:latin typeface="FreeSerif" panose="02020603050405020304"/>
                </a:rPr>
                <a:t> </a:t>
              </a:r>
              <a:r>
                <a:rPr lang="en-US" altLang="en-US" sz="1200" b="1" i="1">
                  <a:latin typeface="FreeSerif" panose="02020603050405020304"/>
                </a:rPr>
                <a:t>Deterministic (RNN) + Stochastic (Gaussian) Path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14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Encoder (Approximate Posterior): Gaussian, CNN + FFN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14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Observation Model: Gaussian, deconvolutional-Net (transposed CNN)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14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Reward Model: Scalar Gaussian, FFN</a:t>
              </a:r>
              <a:endParaRPr lang="en-US" altLang="en-US" sz="1200" i="1">
                <a:latin typeface="FreeSerif" panose="02020603050405020304"/>
              </a:endParaRPr>
            </a:p>
            <a:p>
              <a:pPr lvl="1" indent="0" algn="l">
                <a:lnSpc>
                  <a:spcPct val="140000"/>
                </a:lnSpc>
                <a:buFont typeface="Arial" panose="020B0604020202020204" pitchFamily="34" charset="0"/>
                <a:buNone/>
              </a:pPr>
              <a:endParaRPr lang="en-US" altLang="en-US" sz="1200" i="1">
                <a:latin typeface="FreeSerif" panose="02020603050405020304"/>
              </a:endParaRPr>
            </a:p>
          </p:txBody>
        </p:sp>
        <p:sp>
          <p:nvSpPr>
            <p:cNvPr id="47" name="TextBox 6"/>
            <p:cNvSpPr txBox="1"/>
            <p:nvPr/>
          </p:nvSpPr>
          <p:spPr>
            <a:xfrm>
              <a:off x="114" y="6121"/>
              <a:ext cx="4700" cy="550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14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Models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  <p:cxnSp>
        <p:nvCxnSpPr>
          <p:cNvPr id="48" name="Straight Connector 47"/>
          <p:cNvCxnSpPr/>
          <p:nvPr/>
        </p:nvCxnSpPr>
        <p:spPr>
          <a:xfrm>
            <a:off x="170180" y="4603750"/>
            <a:ext cx="11851005" cy="0"/>
          </a:xfrm>
          <a:prstGeom prst="line">
            <a:avLst/>
          </a:prstGeom>
          <a:ln cmpd="dbl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7680" y="4716780"/>
            <a:ext cx="9108440" cy="91821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7680" y="5878195"/>
            <a:ext cx="9145905" cy="959485"/>
          </a:xfrm>
          <a:prstGeom prst="rect">
            <a:avLst/>
          </a:prstGeom>
        </p:spPr>
      </p:pic>
      <p:sp>
        <p:nvSpPr>
          <p:cNvPr id="51" name="Text Box 50"/>
          <p:cNvSpPr txBox="1"/>
          <p:nvPr/>
        </p:nvSpPr>
        <p:spPr>
          <a:xfrm>
            <a:off x="728345" y="5022215"/>
            <a:ext cx="152209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1400" i="1">
                <a:latin typeface="FreeSerif" panose="02020603050405020304" charset="0"/>
                <a:cs typeface="FreeSerif" panose="02020603050405020304" charset="0"/>
              </a:rPr>
              <a:t>One Step Prediction</a:t>
            </a:r>
            <a:endParaRPr lang="en-US" altLang="en-US" sz="1400" i="1">
              <a:latin typeface="FreeSerif" panose="02020603050405020304" charset="0"/>
              <a:cs typeface="FreeSerif" panose="02020603050405020304" charset="0"/>
            </a:endParaRPr>
          </a:p>
        </p:txBody>
      </p:sp>
      <p:cxnSp>
        <p:nvCxnSpPr>
          <p:cNvPr id="52" name="Straight Arrow Connector 51"/>
          <p:cNvCxnSpPr>
            <a:stCxn id="51" idx="3"/>
            <a:endCxn id="49" idx="1"/>
          </p:cNvCxnSpPr>
          <p:nvPr/>
        </p:nvCxnSpPr>
        <p:spPr>
          <a:xfrm>
            <a:off x="2250440" y="5175885"/>
            <a:ext cx="7772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Box 52"/>
          <p:cNvSpPr txBox="1"/>
          <p:nvPr/>
        </p:nvSpPr>
        <p:spPr>
          <a:xfrm>
            <a:off x="736600" y="6206490"/>
            <a:ext cx="156337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1400" i="1">
                <a:latin typeface="FreeSerif" panose="02020603050405020304" charset="0"/>
                <a:cs typeface="FreeSerif" panose="02020603050405020304" charset="0"/>
              </a:rPr>
              <a:t>Latent Overshooting</a:t>
            </a:r>
            <a:endParaRPr lang="en-US" altLang="en-US" sz="1400" i="1">
              <a:latin typeface="FreeSerif" panose="02020603050405020304" charset="0"/>
              <a:cs typeface="FreeSerif" panose="02020603050405020304" charset="0"/>
            </a:endParaRPr>
          </a:p>
        </p:txBody>
      </p:sp>
      <p:cxnSp>
        <p:nvCxnSpPr>
          <p:cNvPr id="54" name="Straight Arrow Connector 53"/>
          <p:cNvCxnSpPr>
            <a:stCxn id="53" idx="3"/>
            <a:endCxn id="50" idx="1"/>
          </p:cNvCxnSpPr>
          <p:nvPr/>
        </p:nvCxnSpPr>
        <p:spPr>
          <a:xfrm flipV="1">
            <a:off x="2299970" y="6358255"/>
            <a:ext cx="727710" cy="1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5142230" y="1362075"/>
            <a:ext cx="10293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1200" b="1">
                <a:latin typeface="FreeSerif" panose="02020603050405020304" charset="0"/>
                <a:cs typeface="FreeSerif" panose="02020603050405020304" charset="0"/>
              </a:rPr>
              <a:t>Approximate</a:t>
            </a:r>
            <a:br>
              <a:rPr lang="en-US" altLang="en-US" sz="1200" b="1">
                <a:latin typeface="FreeSerif" panose="02020603050405020304" charset="0"/>
                <a:cs typeface="FreeSerif" panose="02020603050405020304" charset="0"/>
              </a:rPr>
            </a:br>
            <a:r>
              <a:rPr lang="en-US" altLang="en-US" sz="1200" b="1">
                <a:latin typeface="FreeSerif" panose="02020603050405020304" charset="0"/>
                <a:cs typeface="FreeSerif" panose="02020603050405020304" charset="0"/>
              </a:rPr>
              <a:t>Posterior</a:t>
            </a:r>
            <a:endParaRPr lang="en-US" altLang="en-US" sz="1200" b="1">
              <a:latin typeface="FreeSerif" panose="02020603050405020304" charset="0"/>
              <a:cs typeface="FreeSerif" panose="02020603050405020304" charset="0"/>
            </a:endParaRPr>
          </a:p>
        </p:txBody>
      </p:sp>
      <p:cxnSp>
        <p:nvCxnSpPr>
          <p:cNvPr id="22" name="Curved Connector 21"/>
          <p:cNvCxnSpPr>
            <a:stCxn id="5" idx="2"/>
            <a:endCxn id="2" idx="3"/>
          </p:cNvCxnSpPr>
          <p:nvPr/>
        </p:nvCxnSpPr>
        <p:spPr>
          <a:xfrm rot="5400000">
            <a:off x="4441825" y="1256030"/>
            <a:ext cx="648970" cy="1781175"/>
          </a:xfrm>
          <a:prstGeom prst="curvedConnector2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478655" y="140335"/>
            <a:ext cx="323405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ctr"/>
            <a:r>
              <a:rPr lang="en-US" altLang="en-US" b="1" i="1" dirty="0">
                <a:latin typeface="FreeSerif" panose="02020603050405020304"/>
              </a:rPr>
              <a:t>Results</a:t>
            </a:r>
            <a:endParaRPr lang="en-US" altLang="en-US" b="1" i="1" dirty="0">
              <a:latin typeface="FreeSerif" panose="0202060305040502030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15900" y="508635"/>
            <a:ext cx="6174740" cy="1978660"/>
            <a:chOff x="340" y="801"/>
            <a:chExt cx="10024" cy="343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0" y="801"/>
              <a:ext cx="10025" cy="3431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767" y="2254"/>
              <a:ext cx="4314" cy="12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68" y="3186"/>
              <a:ext cx="5010" cy="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3079115"/>
            <a:ext cx="6413500" cy="379539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722120" y="2698115"/>
            <a:ext cx="3234055" cy="2755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ctr"/>
            <a:r>
              <a:rPr lang="en-US" altLang="en-US" sz="1200" b="1" i="1" dirty="0">
                <a:latin typeface="FreeSerif" panose="02020603050405020304"/>
              </a:rPr>
              <a:t>PlaNet vs Model-Free Algorithms</a:t>
            </a:r>
            <a:endParaRPr lang="en-US" altLang="en-US" sz="1200" b="1" i="1" dirty="0">
              <a:latin typeface="FreeSerif" panose="020206030504050203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7364730" y="1028065"/>
            <a:ext cx="4066540" cy="4207510"/>
            <a:chOff x="114" y="6121"/>
            <a:chExt cx="4700" cy="6626"/>
          </a:xfrm>
        </p:grpSpPr>
        <p:sp>
          <p:nvSpPr>
            <p:cNvPr id="43" name="TextBox 6"/>
            <p:cNvSpPr txBox="1"/>
            <p:nvPr/>
          </p:nvSpPr>
          <p:spPr>
            <a:xfrm>
              <a:off x="114" y="6787"/>
              <a:ext cx="4700" cy="596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PlaNet matches D4PG performance using 100× fewer episodes on average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Outperforms A3C on all tasks within just 100 episodes — A3C needed 100,000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Cheetah Run: PlaNet surpasses D4PG by 26% — the only task where model-based explicitly beats model-free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Both stochastic and deterministic paths are critical — pure GRU and pure SSM both fail to match RSSM</a:t>
              </a:r>
              <a:endParaRPr lang="en-US" altLang="en-US" sz="1200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Finger Spin is the weakest result — PlaNet does not match D4PG here, showing contact-heavy tasks remain challenging</a:t>
              </a:r>
              <a:endParaRPr lang="en-US" altLang="en-US" sz="1200" i="1">
                <a:latin typeface="FreeSerif" panose="02020603050405020304"/>
              </a:endParaRPr>
            </a:p>
          </p:txBody>
        </p:sp>
        <p:sp>
          <p:nvSpPr>
            <p:cNvPr id="44" name="TextBox 6"/>
            <p:cNvSpPr txBox="1"/>
            <p:nvPr/>
          </p:nvSpPr>
          <p:spPr>
            <a:xfrm>
              <a:off x="114" y="6121"/>
              <a:ext cx="4700" cy="725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20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Key Takeaways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478655" y="140335"/>
            <a:ext cx="323405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ctr"/>
            <a:r>
              <a:rPr lang="en-US" altLang="en-US" b="1" i="1" dirty="0">
                <a:latin typeface="FreeSerif" panose="02020603050405020304"/>
              </a:rPr>
              <a:t>Limitations and Future Work</a:t>
            </a:r>
            <a:endParaRPr lang="en-US" altLang="en-US" b="1" i="1" dirty="0">
              <a:latin typeface="FreeSerif" panose="020206030504050203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577340" y="1240790"/>
            <a:ext cx="4066540" cy="4207510"/>
            <a:chOff x="114" y="6121"/>
            <a:chExt cx="4700" cy="6626"/>
          </a:xfrm>
        </p:grpSpPr>
        <p:sp>
          <p:nvSpPr>
            <p:cNvPr id="43" name="TextBox 6"/>
            <p:cNvSpPr txBox="1"/>
            <p:nvPr/>
          </p:nvSpPr>
          <p:spPr>
            <a:xfrm>
              <a:off x="114" y="6787"/>
              <a:ext cx="4700" cy="596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Finger Spin shows contact-heavy tasks remain difficult for latent planning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Planning horizon is fixed — no temporal abstraction due to cross-emtropy method used.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Latent overshooting slightly reduces RSSM performance — benefit is model-dependent (helps simpler DRNN, hurts RSSM)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Limited visual diversity: cannot learn representations without reconstruction, reconstruction may model irrelevant visual features</a:t>
              </a:r>
              <a:endParaRPr lang="en-US" altLang="en-US" sz="1200" i="1">
                <a:latin typeface="FreeSerif" panose="02020603050405020304"/>
              </a:endParaRPr>
            </a:p>
          </p:txBody>
        </p:sp>
        <p:sp>
          <p:nvSpPr>
            <p:cNvPr id="44" name="TextBox 6"/>
            <p:cNvSpPr txBox="1"/>
            <p:nvPr/>
          </p:nvSpPr>
          <p:spPr>
            <a:xfrm>
              <a:off x="114" y="6121"/>
              <a:ext cx="4700" cy="725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20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Limitations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247130" y="1240790"/>
            <a:ext cx="4066540" cy="4207510"/>
            <a:chOff x="114" y="6121"/>
            <a:chExt cx="4700" cy="6626"/>
          </a:xfrm>
        </p:grpSpPr>
        <p:sp>
          <p:nvSpPr>
            <p:cNvPr id="3" name="TextBox 6"/>
            <p:cNvSpPr txBox="1"/>
            <p:nvPr/>
          </p:nvSpPr>
          <p:spPr>
            <a:xfrm>
              <a:off x="114" y="6787"/>
              <a:ext cx="4700" cy="596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Learn temporal abstraction through hierarchical models instead of fixed action repeat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Learn a value function to approximate rewards beyond the planning horizon - DREAMER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b="1" i="1">
                  <a:latin typeface="FreeSerif" panose="02020603050405020304"/>
                </a:rPr>
                <a:t>Gradient-based planning for better computational efficiency - cross entropy method is a population based search approach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Learn representations without reconstruction to handle higher visual diversity</a:t>
              </a:r>
              <a:endParaRPr lang="en-US" altLang="en-US" sz="1200" b="1" i="1">
                <a:latin typeface="FreeSerif" panose="02020603050405020304"/>
              </a:endParaRPr>
            </a:p>
            <a:p>
              <a:pPr marL="228600" indent="-228600" algn="l">
                <a:lnSpc>
                  <a:spcPct val="200000"/>
                </a:lnSpc>
                <a:buAutoNum type="arabicPeriod"/>
              </a:pPr>
              <a:r>
                <a:rPr lang="en-US" altLang="en-US" sz="1200" i="1">
                  <a:latin typeface="FreeSerif" panose="02020603050405020304"/>
                </a:rPr>
                <a:t>Multi-task control by sharing the dynamics model across tasks</a:t>
              </a:r>
              <a:endParaRPr lang="en-US" altLang="en-US" sz="1200" i="1">
                <a:latin typeface="FreeSerif" panose="02020603050405020304"/>
              </a:endParaRPr>
            </a:p>
          </p:txBody>
        </p:sp>
        <p:sp>
          <p:nvSpPr>
            <p:cNvPr id="11" name="TextBox 6"/>
            <p:cNvSpPr txBox="1"/>
            <p:nvPr/>
          </p:nvSpPr>
          <p:spPr>
            <a:xfrm>
              <a:off x="114" y="6121"/>
              <a:ext cx="4700" cy="725"/>
            </a:xfrm>
            <a:prstGeom prst="rect">
              <a:avLst/>
            </a:prstGeom>
            <a:solidFill>
              <a:schemeClr val="tx1"/>
            </a:solidFill>
            <a:ln w="12700" cmpd="sng">
              <a:solidFill>
                <a:schemeClr val="tx1"/>
              </a:solidFill>
              <a:prstDash val="dashDot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indent="0" algn="ctr">
                <a:lnSpc>
                  <a:spcPct val="200000"/>
                </a:lnSpc>
                <a:buNone/>
              </a:pPr>
              <a:r>
                <a:rPr lang="en-US" altLang="en-US" sz="1200" i="1">
                  <a:solidFill>
                    <a:schemeClr val="bg1"/>
                  </a:solidFill>
                  <a:latin typeface="FreeSerif" panose="02020603050405020304"/>
                </a:rPr>
                <a:t>Future Work</a:t>
              </a:r>
              <a:endParaRPr lang="en-US" altLang="en-US" sz="1200" i="1">
                <a:solidFill>
                  <a:schemeClr val="bg1"/>
                </a:solidFill>
                <a:latin typeface="FreeSerif" panose="02020603050405020304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485515" y="3244850"/>
            <a:ext cx="5220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FreeSerif" panose="02020603050405020304" charset="0"/>
                <a:cs typeface="FreeSerif" panose="02020603050405020304" charset="0"/>
              </a:rPr>
              <a:t>THANK YOU</a:t>
            </a:r>
            <a:endParaRPr lang="en-US" b="1">
              <a:latin typeface="FreeSerif" panose="02020603050405020304" charset="0"/>
              <a:cs typeface="FreeSerif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3774</Words>
  <Application>WPS Presentation</Application>
  <PresentationFormat>宽屏</PresentationFormat>
  <Paragraphs>134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FreeSerif</vt:lpstr>
      <vt:lpstr>Roboto</vt:lpstr>
      <vt:lpstr>等线</vt:lpstr>
      <vt:lpstr>宋体</vt:lpstr>
      <vt:lpstr>FreeSerif</vt:lpstr>
      <vt:lpstr>东文宋体</vt:lpstr>
      <vt:lpstr>Droid Sans Fallback</vt:lpstr>
      <vt:lpstr>微软雅黑</vt:lpstr>
      <vt:lpstr>Arial Unicode MS</vt:lpstr>
      <vt:lpstr>Arial Black</vt:lpstr>
      <vt:lpstr>Office Theme</vt:lpstr>
      <vt:lpstr>Learning Latent Dynamics For Planning from Pixels   Danijar Hafner . Timothy Lillicrap . Ian Fischer . Ruben Villegas . David Ha. Honglak Lee . James Davidson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petron</dc:creator>
  <cp:lastModifiedBy>petron</cp:lastModifiedBy>
  <cp:revision>49</cp:revision>
  <dcterms:created xsi:type="dcterms:W3CDTF">2026-10-22T16:18:19Z</dcterms:created>
  <dcterms:modified xsi:type="dcterms:W3CDTF">2026-10-22T16:18:19Z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1033-11.1.0.9505</vt:lpwstr>
  </property>
</Properties>
</file>